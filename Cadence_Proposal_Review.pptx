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106"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0820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slide" Target="slide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slide" Target="slide9.xml"/><Relationship Id="rId18" Type="http://schemas.openxmlformats.org/officeDocument/2006/relationships/image" Target="../media/image13.png"/><Relationship Id="rId3" Type="http://schemas.openxmlformats.org/officeDocument/2006/relationships/slide" Target="slide4.xml"/><Relationship Id="rId7" Type="http://schemas.openxmlformats.org/officeDocument/2006/relationships/slide" Target="slide6.xml"/><Relationship Id="rId12" Type="http://schemas.openxmlformats.org/officeDocument/2006/relationships/image" Target="../media/image10.png"/><Relationship Id="rId17" Type="http://schemas.openxmlformats.org/officeDocument/2006/relationships/slide" Target="slide11.xml"/><Relationship Id="rId2" Type="http://schemas.openxmlformats.org/officeDocument/2006/relationships/notesSlide" Target="../notesSlides/notesSlide3.xml"/><Relationship Id="rId16"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slide" Target="slide8.xml"/><Relationship Id="rId5" Type="http://schemas.openxmlformats.org/officeDocument/2006/relationships/slide" Target="slide5.xml"/><Relationship Id="rId15" Type="http://schemas.openxmlformats.org/officeDocument/2006/relationships/slide" Target="slide10.xm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slide" Target="slide7.xml"/><Relationship Id="rId1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14.png"/><Relationship Id="rId4" Type="http://schemas.openxmlformats.org/officeDocument/2006/relationships/image" Target="../media/image16.png"/><Relationship Id="rId9"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slide" Target="slide3.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3.png"/><Relationship Id="rId7"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slide" Target="slide3.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26.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0.png"/><Relationship Id="rId4" Type="http://schemas.openxmlformats.org/officeDocument/2006/relationships/image" Target="../media/image18.pn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slide" Target="slide3.xml"/><Relationship Id="rId5" Type="http://schemas.openxmlformats.org/officeDocument/2006/relationships/image" Target="../media/image28.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E2761">
              <a:alpha val="70000"/>
            </a:srgbClr>
          </a:solidFill>
          <a:ln/>
        </p:spPr>
      </p:sp>
      <p:sp>
        <p:nvSpPr>
          <p:cNvPr id="3" name="Shape 1"/>
          <p:cNvSpPr/>
          <p:nvPr/>
        </p:nvSpPr>
        <p:spPr>
          <a:xfrm>
            <a:off x="10607040" y="3291840"/>
            <a:ext cx="3291840" cy="3291840"/>
          </a:xfrm>
          <a:prstGeom prst="ellipse">
            <a:avLst/>
          </a:prstGeom>
          <a:solidFill>
            <a:srgbClr val="3A4A8C">
              <a:alpha val="50000"/>
            </a:srgbClr>
          </a:solidFill>
          <a:ln/>
        </p:spPr>
      </p:sp>
      <p:sp>
        <p:nvSpPr>
          <p:cNvPr id="4" name="Text 2"/>
          <p:cNvSpPr/>
          <p:nvPr/>
        </p:nvSpPr>
        <p:spPr>
          <a:xfrm>
            <a:off x="731520" y="777240"/>
            <a:ext cx="8229600" cy="320040"/>
          </a:xfrm>
          <a:prstGeom prst="rect">
            <a:avLst/>
          </a:prstGeom>
          <a:noFill/>
          <a:ln/>
        </p:spPr>
        <p:txBody>
          <a:bodyPr wrap="square" lIns="0" tIns="0" rIns="0" bIns="0" rtlCol="0" anchor="ctr"/>
          <a:lstStyle/>
          <a:p>
            <a:pPr marL="0" indent="0">
              <a:buNone/>
            </a:pPr>
            <a:r>
              <a:rPr lang="en-US" sz="1200" b="1" kern="0" spc="200" dirty="0">
                <a:solidFill>
                  <a:srgbClr val="A8C6FA"/>
                </a:solidFill>
                <a:latin typeface="Calibri" pitchFamily="34" charset="0"/>
                <a:ea typeface="Calibri" pitchFamily="34" charset="-122"/>
                <a:cs typeface="Calibri" pitchFamily="34" charset="-120"/>
              </a:rPr>
              <a:t>PROPOSAL SUBMISSION  ·  FY26 PLATFORM REVIEW</a:t>
            </a:r>
            <a:endParaRPr lang="en-US" sz="1200" dirty="0"/>
          </a:p>
        </p:txBody>
      </p:sp>
      <p:sp>
        <p:nvSpPr>
          <p:cNvPr id="5" name="Shape 3"/>
          <p:cNvSpPr/>
          <p:nvPr/>
        </p:nvSpPr>
        <p:spPr>
          <a:xfrm>
            <a:off x="731520" y="1234440"/>
            <a:ext cx="868680" cy="868680"/>
          </a:xfrm>
          <a:prstGeom prst="ellipse">
            <a:avLst/>
          </a:prstGeom>
          <a:solidFill>
            <a:srgbClr val="1E2761"/>
          </a:solidFill>
          <a:ln/>
          <a:effectLst>
            <a:outerShdw blurRad="76200" dist="25400" dir="2700000" algn="bl" rotWithShape="0">
              <a:srgbClr val="000000">
                <a:alpha val="10000"/>
              </a:srgbClr>
            </a:outerShdw>
          </a:effectLst>
        </p:spPr>
      </p:sp>
      <p:pic>
        <p:nvPicPr>
          <p:cNvPr id="6" name="Image 0" descr="./icons/bolt_white.png"/>
          <p:cNvPicPr>
            <a:picLocks noChangeAspect="1"/>
          </p:cNvPicPr>
          <p:nvPr/>
        </p:nvPicPr>
        <p:blipFill>
          <a:blip r:embed="rId3"/>
          <a:stretch>
            <a:fillRect/>
          </a:stretch>
        </p:blipFill>
        <p:spPr>
          <a:xfrm>
            <a:off x="957377" y="1460297"/>
            <a:ext cx="416966" cy="416966"/>
          </a:xfrm>
          <a:prstGeom prst="rect">
            <a:avLst/>
          </a:prstGeom>
        </p:spPr>
      </p:pic>
      <p:sp>
        <p:nvSpPr>
          <p:cNvPr id="7" name="Text 4"/>
          <p:cNvSpPr/>
          <p:nvPr/>
        </p:nvSpPr>
        <p:spPr>
          <a:xfrm>
            <a:off x="685800" y="2240280"/>
            <a:ext cx="868680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CADENCE</a:t>
            </a:r>
            <a:endParaRPr lang="en-US" sz="6000" dirty="0"/>
          </a:p>
        </p:txBody>
      </p:sp>
      <p:sp>
        <p:nvSpPr>
          <p:cNvPr id="8" name="Text 5"/>
          <p:cNvSpPr/>
          <p:nvPr/>
        </p:nvSpPr>
        <p:spPr>
          <a:xfrm>
            <a:off x="731520" y="3291840"/>
            <a:ext cx="8961120" cy="457200"/>
          </a:xfrm>
          <a:prstGeom prst="rect">
            <a:avLst/>
          </a:prstGeom>
          <a:noFill/>
          <a:ln/>
        </p:spPr>
        <p:txBody>
          <a:bodyPr wrap="square" lIns="0" tIns="0" rIns="0" bIns="0" rtlCol="0" anchor="ctr"/>
          <a:lstStyle/>
          <a:p>
            <a:pPr marL="0" indent="0">
              <a:buNone/>
            </a:pPr>
            <a:r>
              <a:rPr lang="en-US" sz="1600" i="1" dirty="0">
                <a:solidFill>
                  <a:srgbClr val="C2CBE8"/>
                </a:solidFill>
                <a:latin typeface="Calibri" pitchFamily="34" charset="0"/>
                <a:ea typeface="Calibri" pitchFamily="34" charset="-122"/>
                <a:cs typeface="Calibri" pitchFamily="34" charset="-120"/>
              </a:rPr>
              <a:t>Autonomous Work Orchestration Platform for Teams &amp; Agencies</a:t>
            </a:r>
            <a:endParaRPr lang="en-US" sz="1600" dirty="0"/>
          </a:p>
        </p:txBody>
      </p:sp>
      <p:sp>
        <p:nvSpPr>
          <p:cNvPr id="9" name="Shape 6"/>
          <p:cNvSpPr/>
          <p:nvPr/>
        </p:nvSpPr>
        <p:spPr>
          <a:xfrm>
            <a:off x="731520" y="3931920"/>
            <a:ext cx="6949440" cy="0"/>
          </a:xfrm>
          <a:prstGeom prst="line">
            <a:avLst/>
          </a:prstGeom>
          <a:noFill/>
          <a:ln w="12700">
            <a:solidFill>
              <a:srgbClr val="31407A"/>
            </a:solidFill>
            <a:prstDash val="solid"/>
          </a:ln>
        </p:spPr>
      </p:sp>
      <p:sp>
        <p:nvSpPr>
          <p:cNvPr id="10" name="Text 7"/>
          <p:cNvSpPr/>
          <p:nvPr/>
        </p:nvSpPr>
        <p:spPr>
          <a:xfrm>
            <a:off x="731520" y="4114800"/>
            <a:ext cx="89611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Author:  </a:t>
            </a:r>
            <a:r>
              <a:rPr lang="en-US" sz="1400" dirty="0">
                <a:solidFill>
                  <a:srgbClr val="C2CBE8"/>
                </a:solidFill>
                <a:latin typeface="Calibri" pitchFamily="34" charset="0"/>
                <a:ea typeface="Calibri" pitchFamily="34" charset="-122"/>
                <a:cs typeface="Calibri" pitchFamily="34" charset="-120"/>
              </a:rPr>
              <a:t>TheOrionGD — Full-Stack Developer</a:t>
            </a:r>
            <a:endParaRPr lang="en-US" sz="1400" dirty="0"/>
          </a:p>
        </p:txBody>
      </p:sp>
      <p:sp>
        <p:nvSpPr>
          <p:cNvPr id="11" name="Text 8"/>
          <p:cNvSpPr/>
          <p:nvPr/>
        </p:nvSpPr>
        <p:spPr>
          <a:xfrm>
            <a:off x="731520" y="4480560"/>
            <a:ext cx="914400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Stack:  </a:t>
            </a:r>
            <a:r>
              <a:rPr lang="en-US" sz="1350" dirty="0">
                <a:solidFill>
                  <a:srgbClr val="C2CBE8"/>
                </a:solidFill>
                <a:latin typeface="Calibri" pitchFamily="34" charset="0"/>
                <a:ea typeface="Calibri" pitchFamily="34" charset="-122"/>
                <a:cs typeface="Calibri" pitchFamily="34" charset="-120"/>
              </a:rPr>
              <a:t>Next.js 16 · TypeScript · tRPC · PostgreSQL · Google ADK · Claude/Groq/Gemini</a:t>
            </a:r>
            <a:endParaRPr lang="en-US" sz="1350" dirty="0"/>
          </a:p>
        </p:txBody>
      </p:sp>
      <p:sp>
        <p:nvSpPr>
          <p:cNvPr id="12" name="Text 9"/>
          <p:cNvSpPr/>
          <p:nvPr/>
        </p:nvSpPr>
        <p:spPr>
          <a:xfrm>
            <a:off x="731520" y="4892040"/>
            <a:ext cx="8686800" cy="320040"/>
          </a:xfrm>
          <a:prstGeom prst="rect">
            <a:avLst/>
          </a:prstGeom>
          <a:noFill/>
          <a:ln/>
        </p:spPr>
        <p:txBody>
          <a:bodyPr wrap="square" lIns="0" tIns="0" rIns="0" bIns="0" rtlCol="0" anchor="ctr"/>
          <a:lstStyle/>
          <a:p>
            <a:pPr marL="0" indent="0">
              <a:buNone/>
            </a:pPr>
            <a:r>
              <a:rPr lang="en-US" sz="1100" dirty="0">
                <a:solidFill>
                  <a:srgbClr val="8493BD"/>
                </a:solidFill>
                <a:latin typeface="Calibri" pitchFamily="34" charset="0"/>
                <a:ea typeface="Calibri" pitchFamily="34" charset="-122"/>
                <a:cs typeface="Calibri" pitchFamily="34" charset="-120"/>
              </a:rPr>
              <a:t>2026-Current Stack  ·  Multi-Tenant SaaS  ·  MIT License</a:t>
            </a:r>
            <a:endParaRPr lang="en-US" sz="1100" dirty="0"/>
          </a:p>
        </p:txBody>
      </p:sp>
      <p:sp>
        <p:nvSpPr>
          <p:cNvPr id="13" name="Shape 10"/>
          <p:cNvSpPr/>
          <p:nvPr/>
        </p:nvSpPr>
        <p:spPr>
          <a:xfrm>
            <a:off x="731520" y="5623560"/>
            <a:ext cx="7863840" cy="685800"/>
          </a:xfrm>
          <a:prstGeom prst="roundRect">
            <a:avLst>
              <a:gd name="adj" fmla="val 13333"/>
            </a:avLst>
          </a:prstGeom>
          <a:solidFill>
            <a:srgbClr val="1A2550"/>
          </a:solidFill>
          <a:ln w="12700">
            <a:solidFill>
              <a:srgbClr val="31407A"/>
            </a:solidFill>
            <a:prstDash val="solid"/>
          </a:ln>
        </p:spPr>
      </p:sp>
      <p:pic>
        <p:nvPicPr>
          <p:cNvPr id="14" name="Image 1" descr="./icons/clipboard_white.png"/>
          <p:cNvPicPr>
            <a:picLocks noChangeAspect="1"/>
          </p:cNvPicPr>
          <p:nvPr/>
        </p:nvPicPr>
        <p:blipFill>
          <a:blip r:embed="rId4"/>
          <a:stretch>
            <a:fillRect/>
          </a:stretch>
        </p:blipFill>
        <p:spPr>
          <a:xfrm>
            <a:off x="914400" y="5779008"/>
            <a:ext cx="365760" cy="365760"/>
          </a:xfrm>
          <a:prstGeom prst="rect">
            <a:avLst/>
          </a:prstGeom>
        </p:spPr>
      </p:pic>
      <p:sp>
        <p:nvSpPr>
          <p:cNvPr id="15" name="Text 11"/>
          <p:cNvSpPr/>
          <p:nvPr/>
        </p:nvSpPr>
        <p:spPr>
          <a:xfrm>
            <a:off x="1417320" y="5623560"/>
            <a:ext cx="6949440" cy="685800"/>
          </a:xfrm>
          <a:prstGeom prst="rect">
            <a:avLst/>
          </a:prstGeom>
          <a:noFill/>
          <a:ln/>
        </p:spPr>
        <p:txBody>
          <a:bodyPr wrap="square" lIns="0" tIns="0" rIns="0" bIns="0" rtlCol="0" anchor="ctr"/>
          <a:lstStyle/>
          <a:p>
            <a:pPr marL="0" indent="0">
              <a:buNone/>
            </a:pPr>
            <a:r>
              <a:rPr lang="en-US" sz="1300" i="1" dirty="0">
                <a:solidFill>
                  <a:srgbClr val="E8ECF8"/>
                </a:solidFill>
                <a:latin typeface="Calibri" pitchFamily="34" charset="0"/>
                <a:ea typeface="Calibri" pitchFamily="34" charset="-122"/>
                <a:cs typeface="Calibri" pitchFamily="34" charset="-120"/>
              </a:rPr>
              <a:t>This proposal has been routed to TheOrionGD for structured review →</a:t>
            </a:r>
            <a:endParaRPr lang="en-US" sz="1300" dirty="0"/>
          </a:p>
        </p:txBody>
      </p:sp>
      <p:sp>
        <p:nvSpPr>
          <p:cNvPr id="16" name="Text 12">
            <a:hlinkClick r:id="rId5" action="ppaction://hlinksldjump"/>
          </p:cNvPr>
          <p:cNvSpPr/>
          <p:nvPr/>
        </p:nvSpPr>
        <p:spPr>
          <a:xfrm>
            <a:off x="8503920" y="6400800"/>
            <a:ext cx="3017520" cy="274320"/>
          </a:xfrm>
          <a:prstGeom prst="rect">
            <a:avLst/>
          </a:prstGeom>
          <a:noFill/>
          <a:ln/>
        </p:spPr>
        <p:txBody>
          <a:bodyPr wrap="square" lIns="0" tIns="0" rIns="0" bIns="0" rtlCol="0" anchor="ctr"/>
          <a:lstStyle/>
          <a:p>
            <a:pPr marL="0" indent="0" algn="r">
              <a:buNone/>
            </a:pPr>
            <a:r>
              <a:rPr lang="en-US" sz="1000" u="sng" dirty="0">
                <a:solidFill>
                  <a:srgbClr val="5E6C99"/>
                </a:solidFill>
                <a:latin typeface="Calibri" pitchFamily="34" charset="0"/>
                <a:ea typeface="Calibri" pitchFamily="34" charset="-122"/>
                <a:cs typeface="Calibri" pitchFamily="34" charset="-120"/>
                <a:hlinkClick r:id="rId5" action="ppaction://hlinksldjump">
                  <a:extLst>
                    <a:ext uri="{A12FA001-AC4F-418D-AE19-62706E023703}">
                      <ahyp:hlinkClr xmlns:ahyp="http://schemas.microsoft.com/office/drawing/2018/hyperlinkcolor" val="tx"/>
                    </a:ext>
                  </a:extLst>
                </a:hlinkClick>
              </a:rPr>
              <a:t>CLICK ANY ELEMENT TO BEGIN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1828800" y="3840480"/>
            <a:ext cx="5486400" cy="5486400"/>
          </a:xfrm>
          <a:prstGeom prst="ellipse">
            <a:avLst/>
          </a:prstGeom>
          <a:solidFill>
            <a:srgbClr val="1E2761">
              <a:alpha val="60000"/>
            </a:srgbClr>
          </a:solidFill>
          <a:ln/>
        </p:spPr>
      </p:sp>
      <p:sp>
        <p:nvSpPr>
          <p:cNvPr id="3" name="Text 1"/>
          <p:cNvSpPr/>
          <p:nvPr/>
        </p:nvSpPr>
        <p:spPr>
          <a:xfrm>
            <a:off x="731520" y="777240"/>
            <a:ext cx="5486400" cy="274320"/>
          </a:xfrm>
          <a:prstGeom prst="rect">
            <a:avLst/>
          </a:prstGeom>
          <a:noFill/>
          <a:ln/>
        </p:spPr>
        <p:txBody>
          <a:bodyPr wrap="square" lIns="0" tIns="0" rIns="0" bIns="0" rtlCol="0" anchor="ctr"/>
          <a:lstStyle/>
          <a:p>
            <a:pPr marL="0" indent="0">
              <a:buNone/>
            </a:pPr>
            <a:r>
              <a:rPr lang="en-US" sz="1200" b="1" kern="0" spc="200" dirty="0">
                <a:solidFill>
                  <a:srgbClr val="A8C6FA"/>
                </a:solidFill>
                <a:latin typeface="Calibri" pitchFamily="34" charset="0"/>
                <a:ea typeface="Calibri" pitchFamily="34" charset="-122"/>
                <a:cs typeface="Calibri" pitchFamily="34" charset="-120"/>
              </a:rPr>
              <a:t>REVIEW STAGE 1</a:t>
            </a:r>
            <a:endParaRPr lang="en-US" sz="1200" dirty="0"/>
          </a:p>
        </p:txBody>
      </p:sp>
      <p:sp>
        <p:nvSpPr>
          <p:cNvPr id="4" name="Text 2"/>
          <p:cNvSpPr/>
          <p:nvPr/>
        </p:nvSpPr>
        <p:spPr>
          <a:xfrm>
            <a:off x="731520" y="109728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TheOrionGD Opens the Proposal</a:t>
            </a:r>
            <a:endParaRPr lang="en-US" sz="3200" dirty="0"/>
          </a:p>
        </p:txBody>
      </p:sp>
      <p:sp>
        <p:nvSpPr>
          <p:cNvPr id="5" name="Text 3"/>
          <p:cNvSpPr/>
          <p:nvPr/>
        </p:nvSpPr>
        <p:spPr>
          <a:xfrm>
            <a:off x="731520" y="2057400"/>
            <a:ext cx="8046720" cy="1600200"/>
          </a:xfrm>
          <a:prstGeom prst="rect">
            <a:avLst/>
          </a:prstGeom>
          <a:noFill/>
          <a:ln/>
        </p:spPr>
        <p:txBody>
          <a:bodyPr wrap="square" lIns="0" tIns="0" rIns="0" bIns="0" rtlCol="0" anchor="ctr"/>
          <a:lstStyle/>
          <a:p>
            <a:pPr marL="0" indent="0">
              <a:lnSpc>
                <a:spcPct val="125000"/>
              </a:lnSpc>
              <a:buNone/>
            </a:pPr>
            <a:r>
              <a:rPr lang="en-US" sz="1450" dirty="0">
                <a:solidFill>
                  <a:srgbClr val="D5DAEF"/>
                </a:solidFill>
                <a:latin typeface="Calibri" pitchFamily="34" charset="0"/>
                <a:ea typeface="Calibri" pitchFamily="34" charset="-122"/>
                <a:cs typeface="Calibri" pitchFamily="34" charset="-120"/>
              </a:rPr>
              <a:t>TheOrionGD has submitted Cadence: a production-grade, multi-tenant SaaS platform that moves beyond passive task tracking into autonomous work orchestration — continuously distributing, predicting, and coordinating human work with minimal managerial intervention. Before this proposal reaches sanction, it must clear a structured review: positioning, features, architecture, AI layer, signature capabilities, roles, monetization, and a final feasibility verdict.</a:t>
            </a:r>
            <a:endParaRPr lang="en-US" sz="1450" dirty="0"/>
          </a:p>
        </p:txBody>
      </p:sp>
      <p:sp>
        <p:nvSpPr>
          <p:cNvPr id="6" name="Shape 4"/>
          <p:cNvSpPr/>
          <p:nvPr/>
        </p:nvSpPr>
        <p:spPr>
          <a:xfrm>
            <a:off x="731520" y="3886200"/>
            <a:ext cx="2377440" cy="914400"/>
          </a:xfrm>
          <a:prstGeom prst="roundRect">
            <a:avLst>
              <a:gd name="adj" fmla="val 10000"/>
            </a:avLst>
          </a:prstGeom>
          <a:solidFill>
            <a:srgbClr val="1A2550"/>
          </a:solidFill>
          <a:ln w="12700">
            <a:solidFill>
              <a:srgbClr val="31407A"/>
            </a:solidFill>
            <a:prstDash val="solid"/>
          </a:ln>
        </p:spPr>
      </p:sp>
      <p:pic>
        <p:nvPicPr>
          <p:cNvPr id="7" name="Image 0" descr="./icons/question_white.png"/>
          <p:cNvPicPr>
            <a:picLocks noChangeAspect="1"/>
          </p:cNvPicPr>
          <p:nvPr/>
        </p:nvPicPr>
        <p:blipFill>
          <a:blip r:embed="rId3"/>
          <a:stretch>
            <a:fillRect/>
          </a:stretch>
        </p:blipFill>
        <p:spPr>
          <a:xfrm>
            <a:off x="914400" y="4114800"/>
            <a:ext cx="457200" cy="457200"/>
          </a:xfrm>
          <a:prstGeom prst="rect">
            <a:avLst/>
          </a:prstGeom>
        </p:spPr>
      </p:pic>
      <p:sp>
        <p:nvSpPr>
          <p:cNvPr id="8" name="Text 5"/>
          <p:cNvSpPr/>
          <p:nvPr/>
        </p:nvSpPr>
        <p:spPr>
          <a:xfrm>
            <a:off x="1508760" y="3886200"/>
            <a:ext cx="1508760" cy="9144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Is the problem real?</a:t>
            </a:r>
            <a:endParaRPr lang="en-US" sz="1150" dirty="0"/>
          </a:p>
        </p:txBody>
      </p:sp>
      <p:sp>
        <p:nvSpPr>
          <p:cNvPr id="9" name="Shape 6"/>
          <p:cNvSpPr/>
          <p:nvPr/>
        </p:nvSpPr>
        <p:spPr>
          <a:xfrm>
            <a:off x="3337560" y="3886200"/>
            <a:ext cx="2377440" cy="914400"/>
          </a:xfrm>
          <a:prstGeom prst="roundRect">
            <a:avLst>
              <a:gd name="adj" fmla="val 10000"/>
            </a:avLst>
          </a:prstGeom>
          <a:solidFill>
            <a:srgbClr val="1A2550"/>
          </a:solidFill>
          <a:ln w="12700">
            <a:solidFill>
              <a:srgbClr val="31407A"/>
            </a:solidFill>
            <a:prstDash val="solid"/>
          </a:ln>
        </p:spPr>
      </p:sp>
      <p:pic>
        <p:nvPicPr>
          <p:cNvPr id="10" name="Image 1" descr="./icons/flask_white.png"/>
          <p:cNvPicPr>
            <a:picLocks noChangeAspect="1"/>
          </p:cNvPicPr>
          <p:nvPr/>
        </p:nvPicPr>
        <p:blipFill>
          <a:blip r:embed="rId4"/>
          <a:stretch>
            <a:fillRect/>
          </a:stretch>
        </p:blipFill>
        <p:spPr>
          <a:xfrm>
            <a:off x="3520440" y="4114800"/>
            <a:ext cx="457200" cy="457200"/>
          </a:xfrm>
          <a:prstGeom prst="rect">
            <a:avLst/>
          </a:prstGeom>
        </p:spPr>
      </p:pic>
      <p:sp>
        <p:nvSpPr>
          <p:cNvPr id="11" name="Text 7"/>
          <p:cNvSpPr/>
          <p:nvPr/>
        </p:nvSpPr>
        <p:spPr>
          <a:xfrm>
            <a:off x="4114800" y="3886200"/>
            <a:ext cx="1508760" cy="9144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Is the architecture sound?</a:t>
            </a:r>
            <a:endParaRPr lang="en-US" sz="1150" dirty="0"/>
          </a:p>
        </p:txBody>
      </p:sp>
      <p:sp>
        <p:nvSpPr>
          <p:cNvPr id="12" name="Shape 8"/>
          <p:cNvSpPr/>
          <p:nvPr/>
        </p:nvSpPr>
        <p:spPr>
          <a:xfrm>
            <a:off x="5943600" y="3886200"/>
            <a:ext cx="2377440" cy="914400"/>
          </a:xfrm>
          <a:prstGeom prst="roundRect">
            <a:avLst>
              <a:gd name="adj" fmla="val 10000"/>
            </a:avLst>
          </a:prstGeom>
          <a:solidFill>
            <a:srgbClr val="1A2550"/>
          </a:solidFill>
          <a:ln w="12700">
            <a:solidFill>
              <a:srgbClr val="31407A"/>
            </a:solidFill>
            <a:prstDash val="solid"/>
          </a:ln>
        </p:spPr>
      </p:sp>
      <p:pic>
        <p:nvPicPr>
          <p:cNvPr id="13" name="Image 2" descr="./icons/shield_white.png"/>
          <p:cNvPicPr>
            <a:picLocks noChangeAspect="1"/>
          </p:cNvPicPr>
          <p:nvPr/>
        </p:nvPicPr>
        <p:blipFill>
          <a:blip r:embed="rId5"/>
          <a:stretch>
            <a:fillRect/>
          </a:stretch>
        </p:blipFill>
        <p:spPr>
          <a:xfrm>
            <a:off x="6126480" y="4114800"/>
            <a:ext cx="457200" cy="457200"/>
          </a:xfrm>
          <a:prstGeom prst="rect">
            <a:avLst/>
          </a:prstGeom>
        </p:spPr>
      </p:pic>
      <p:sp>
        <p:nvSpPr>
          <p:cNvPr id="14" name="Text 9"/>
          <p:cNvSpPr/>
          <p:nvPr/>
        </p:nvSpPr>
        <p:spPr>
          <a:xfrm>
            <a:off x="6720840" y="3886200"/>
            <a:ext cx="1508760" cy="9144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Is it secure &amp; monetizable?</a:t>
            </a:r>
            <a:endParaRPr lang="en-US" sz="1150" dirty="0"/>
          </a:p>
        </p:txBody>
      </p:sp>
      <p:sp>
        <p:nvSpPr>
          <p:cNvPr id="15" name="Shape 10">
            <a:hlinkClick r:id="rId6" action="ppaction://hlinksldjump"/>
          </p:cNvPr>
          <p:cNvSpPr/>
          <p:nvPr/>
        </p:nvSpPr>
        <p:spPr>
          <a:xfrm>
            <a:off x="731520" y="5257800"/>
            <a:ext cx="7863840" cy="777240"/>
          </a:xfrm>
          <a:prstGeom prst="roundRect">
            <a:avLst>
              <a:gd name="adj" fmla="val 49412"/>
            </a:avLst>
          </a:prstGeom>
          <a:solidFill>
            <a:srgbClr val="E05C2A"/>
          </a:solidFill>
          <a:ln/>
          <a:effectLst>
            <a:outerShdw blurRad="101600" dist="38100" dir="2700000" algn="bl" rotWithShape="0">
              <a:srgbClr val="000000">
                <a:alpha val="18000"/>
              </a:srgbClr>
            </a:outerShdw>
          </a:effectLst>
        </p:spPr>
      </p:sp>
      <p:sp>
        <p:nvSpPr>
          <p:cNvPr id="16" name="Text 11">
            <a:hlinkClick r:id="rId6" action="ppaction://hlinksldjump"/>
          </p:cNvPr>
          <p:cNvSpPr/>
          <p:nvPr/>
        </p:nvSpPr>
        <p:spPr>
          <a:xfrm>
            <a:off x="731520" y="5257800"/>
            <a:ext cx="7863840" cy="777240"/>
          </a:xfrm>
          <a:prstGeom prst="rect">
            <a:avLst/>
          </a:prstGeom>
          <a:noFill/>
          <a:ln/>
        </p:spPr>
        <p:txBody>
          <a:bodyPr wrap="square" lIns="0" tIns="0" rIns="0" bIns="0" rtlCol="0" anchor="ctr"/>
          <a:lstStyle/>
          <a:p>
            <a:pPr marL="0" indent="0" algn="ctr">
              <a:buNone/>
            </a:pPr>
            <a:r>
              <a:rPr lang="en-US" sz="1500" b="1" u="sng" dirty="0">
                <a:solidFill>
                  <a:srgbClr val="FFFFFF"/>
                </a:solidFill>
                <a:latin typeface="Calibri" pitchFamily="34" charset="0"/>
                <a:ea typeface="Calibri" pitchFamily="34" charset="-122"/>
                <a:cs typeface="Calibri" pitchFamily="34" charset="-120"/>
                <a:hlinkClick r:id="rId6" action="ppaction://hlinksldjump">
                  <a:extLst>
                    <a:ext uri="{A12FA001-AC4F-418D-AE19-62706E023703}">
                      <ahyp:hlinkClr xmlns:ahyp="http://schemas.microsoft.com/office/drawing/2018/hyperlinkcolor" val="tx"/>
                    </a:ext>
                  </a:extLst>
                </a:hlinkClick>
              </a:rPr>
              <a:t>OPEN THE REVIEW BOARD  →</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274320"/>
          </a:xfrm>
          <a:prstGeom prst="rect">
            <a:avLst/>
          </a:prstGeom>
          <a:noFill/>
          <a:ln/>
        </p:spPr>
        <p:txBody>
          <a:bodyPr wrap="square" lIns="0" tIns="0" rIns="0" bIns="0" rtlCol="0" anchor="ctr"/>
          <a:lstStyle/>
          <a:p>
            <a:pPr marL="0" indent="0">
              <a:buNone/>
            </a:pPr>
            <a:r>
              <a:rPr lang="en-US" sz="1200" b="1" kern="0" spc="200" dirty="0">
                <a:solidFill>
                  <a:srgbClr val="A8C6FA"/>
                </a:solidFill>
                <a:latin typeface="Calibri" pitchFamily="34" charset="0"/>
                <a:ea typeface="Calibri" pitchFamily="34" charset="-122"/>
                <a:cs typeface="Calibri" pitchFamily="34" charset="-120"/>
              </a:rPr>
              <a:t>REVIEW BOARD</a:t>
            </a:r>
            <a:endParaRPr lang="en-US" sz="1200" dirty="0"/>
          </a:p>
        </p:txBody>
      </p:sp>
      <p:sp>
        <p:nvSpPr>
          <p:cNvPr id="3" name="Text 1"/>
          <p:cNvSpPr/>
          <p:nvPr/>
        </p:nvSpPr>
        <p:spPr>
          <a:xfrm>
            <a:off x="548640" y="640080"/>
            <a:ext cx="109728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Click a Section — Reviewed Live by TheOrionGD</a:t>
            </a:r>
            <a:endParaRPr lang="en-US" sz="2600" dirty="0"/>
          </a:p>
        </p:txBody>
      </p:sp>
      <p:sp>
        <p:nvSpPr>
          <p:cNvPr id="4" name="Shape 2">
            <a:hlinkClick r:id="rId3" action="ppaction://hlinksldjump"/>
          </p:cNvPr>
          <p:cNvSpPr/>
          <p:nvPr/>
        </p:nvSpPr>
        <p:spPr>
          <a:xfrm>
            <a:off x="548640" y="1417320"/>
            <a:ext cx="2670048" cy="2331720"/>
          </a:xfrm>
          <a:prstGeom prst="roundRect">
            <a:avLst>
              <a:gd name="adj" fmla="val 3922"/>
            </a:avLst>
          </a:prstGeom>
          <a:solidFill>
            <a:srgbClr val="1A2550"/>
          </a:solidFill>
          <a:ln w="12700">
            <a:solidFill>
              <a:srgbClr val="31407A"/>
            </a:solidFill>
            <a:prstDash val="solid"/>
          </a:ln>
          <a:effectLst>
            <a:outerShdw blurRad="76200" dist="25400" dir="2700000" algn="bl" rotWithShape="0">
              <a:srgbClr val="000000">
                <a:alpha val="10000"/>
              </a:srgbClr>
            </a:outerShdw>
          </a:effectLst>
        </p:spPr>
      </p:sp>
      <p:sp>
        <p:nvSpPr>
          <p:cNvPr id="5" name="Shape 3"/>
          <p:cNvSpPr/>
          <p:nvPr/>
        </p:nvSpPr>
        <p:spPr>
          <a:xfrm>
            <a:off x="1472184" y="1673352"/>
            <a:ext cx="822960" cy="822960"/>
          </a:xfrm>
          <a:prstGeom prst="ellipse">
            <a:avLst/>
          </a:prstGeom>
          <a:solidFill>
            <a:srgbClr val="3A4A8C"/>
          </a:solidFill>
          <a:ln/>
          <a:effectLst>
            <a:outerShdw blurRad="76200" dist="25400" dir="2700000" algn="bl" rotWithShape="0">
              <a:srgbClr val="000000">
                <a:alpha val="10000"/>
              </a:srgbClr>
            </a:outerShdw>
          </a:effectLst>
        </p:spPr>
      </p:sp>
      <p:pic>
        <p:nvPicPr>
          <p:cNvPr id="6" name="Image 0" descr="./icons/compass_white.png"/>
          <p:cNvPicPr>
            <a:picLocks noChangeAspect="1"/>
          </p:cNvPicPr>
          <p:nvPr/>
        </p:nvPicPr>
        <p:blipFill>
          <a:blip r:embed="rId4"/>
          <a:stretch>
            <a:fillRect/>
          </a:stretch>
        </p:blipFill>
        <p:spPr>
          <a:xfrm>
            <a:off x="1686154" y="1887322"/>
            <a:ext cx="395021" cy="395021"/>
          </a:xfrm>
          <a:prstGeom prst="rect">
            <a:avLst/>
          </a:prstGeom>
        </p:spPr>
      </p:pic>
      <p:sp>
        <p:nvSpPr>
          <p:cNvPr id="7" name="Text 4">
            <a:hlinkClick r:id="rId3" action="ppaction://hlinksldjump"/>
          </p:cNvPr>
          <p:cNvSpPr/>
          <p:nvPr/>
        </p:nvSpPr>
        <p:spPr>
          <a:xfrm>
            <a:off x="658368" y="2651760"/>
            <a:ext cx="2450592" cy="502920"/>
          </a:xfrm>
          <a:prstGeom prst="rect">
            <a:avLst/>
          </a:prstGeom>
          <a:noFill/>
          <a:ln/>
        </p:spPr>
        <p:txBody>
          <a:bodyPr wrap="square" lIns="0" tIns="0" rIns="0" bIns="0" rtlCol="0" anchor="ctr"/>
          <a:lstStyle/>
          <a:p>
            <a:pPr marL="0" indent="0" algn="ctr">
              <a:buNone/>
            </a:pPr>
            <a:r>
              <a:rPr lang="en-US" sz="1350" b="1" u="sng" dirty="0">
                <a:solidFill>
                  <a:srgbClr val="FFFFFF"/>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Overview &amp; Positioning</a:t>
            </a:r>
            <a:endParaRPr lang="en-US" sz="1350" dirty="0"/>
          </a:p>
        </p:txBody>
      </p:sp>
      <p:sp>
        <p:nvSpPr>
          <p:cNvPr id="8" name="Text 5">
            <a:hlinkClick r:id="rId3" action="ppaction://hlinksldjump"/>
          </p:cNvPr>
          <p:cNvSpPr/>
          <p:nvPr/>
        </p:nvSpPr>
        <p:spPr>
          <a:xfrm>
            <a:off x="658368" y="3154680"/>
            <a:ext cx="2450592" cy="457200"/>
          </a:xfrm>
          <a:prstGeom prst="rect">
            <a:avLst/>
          </a:prstGeom>
          <a:noFill/>
          <a:ln/>
        </p:spPr>
        <p:txBody>
          <a:bodyPr wrap="square" lIns="0" tIns="0" rIns="0" bIns="0" rtlCol="0" anchor="ctr"/>
          <a:lstStyle/>
          <a:p>
            <a:pPr marL="0" indent="0" algn="ctr">
              <a:buNone/>
            </a:pPr>
            <a:r>
              <a:rPr lang="en-US" sz="1000" u="sng" dirty="0">
                <a:solidFill>
                  <a:srgbClr val="9BA8D1"/>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Orchestration vs. task tracking</a:t>
            </a:r>
            <a:endParaRPr lang="en-US" sz="1000" dirty="0"/>
          </a:p>
        </p:txBody>
      </p:sp>
      <p:sp>
        <p:nvSpPr>
          <p:cNvPr id="9" name="Text 6"/>
          <p:cNvSpPr/>
          <p:nvPr/>
        </p:nvSpPr>
        <p:spPr>
          <a:xfrm>
            <a:off x="658368" y="1508760"/>
            <a:ext cx="548640" cy="274320"/>
          </a:xfrm>
          <a:prstGeom prst="rect">
            <a:avLst/>
          </a:prstGeom>
          <a:noFill/>
          <a:ln/>
        </p:spPr>
        <p:txBody>
          <a:bodyPr wrap="square" lIns="0" tIns="0" rIns="0" bIns="0" rtlCol="0" anchor="ctr"/>
          <a:lstStyle/>
          <a:p>
            <a:pPr marL="0" indent="0">
              <a:buNone/>
            </a:pPr>
            <a:r>
              <a:rPr lang="en-US" sz="1000" b="1" dirty="0">
                <a:solidFill>
                  <a:srgbClr val="5A6699"/>
                </a:solidFill>
                <a:latin typeface="Calibri" pitchFamily="34" charset="0"/>
                <a:ea typeface="Calibri" pitchFamily="34" charset="-122"/>
                <a:cs typeface="Calibri" pitchFamily="34" charset="-120"/>
              </a:rPr>
              <a:t>01</a:t>
            </a:r>
            <a:endParaRPr lang="en-US" sz="1000" dirty="0"/>
          </a:p>
        </p:txBody>
      </p:sp>
      <p:sp>
        <p:nvSpPr>
          <p:cNvPr id="10" name="Shape 7">
            <a:hlinkClick r:id="rId5" action="ppaction://hlinksldjump"/>
          </p:cNvPr>
          <p:cNvSpPr/>
          <p:nvPr/>
        </p:nvSpPr>
        <p:spPr>
          <a:xfrm>
            <a:off x="3337560" y="1417320"/>
            <a:ext cx="2670048" cy="2331720"/>
          </a:xfrm>
          <a:prstGeom prst="roundRect">
            <a:avLst>
              <a:gd name="adj" fmla="val 3922"/>
            </a:avLst>
          </a:prstGeom>
          <a:solidFill>
            <a:srgbClr val="1A2550"/>
          </a:solidFill>
          <a:ln w="12700">
            <a:solidFill>
              <a:srgbClr val="31407A"/>
            </a:solidFill>
            <a:prstDash val="solid"/>
          </a:ln>
          <a:effectLst>
            <a:outerShdw blurRad="76200" dist="25400" dir="2700000" algn="bl" rotWithShape="0">
              <a:srgbClr val="000000">
                <a:alpha val="10000"/>
              </a:srgbClr>
            </a:outerShdw>
          </a:effectLst>
        </p:spPr>
      </p:sp>
      <p:sp>
        <p:nvSpPr>
          <p:cNvPr id="11" name="Shape 8"/>
          <p:cNvSpPr/>
          <p:nvPr/>
        </p:nvSpPr>
        <p:spPr>
          <a:xfrm>
            <a:off x="4261104" y="1673352"/>
            <a:ext cx="822960" cy="822960"/>
          </a:xfrm>
          <a:prstGeom prst="ellipse">
            <a:avLst/>
          </a:prstGeom>
          <a:solidFill>
            <a:srgbClr val="3A4A8C"/>
          </a:solidFill>
          <a:ln/>
          <a:effectLst>
            <a:outerShdw blurRad="76200" dist="25400" dir="2700000" algn="bl" rotWithShape="0">
              <a:srgbClr val="000000">
                <a:alpha val="10000"/>
              </a:srgbClr>
            </a:outerShdw>
          </a:effectLst>
        </p:spPr>
      </p:sp>
      <p:pic>
        <p:nvPicPr>
          <p:cNvPr id="12" name="Image 1" descr="./icons/layer_white.png"/>
          <p:cNvPicPr>
            <a:picLocks noChangeAspect="1"/>
          </p:cNvPicPr>
          <p:nvPr/>
        </p:nvPicPr>
        <p:blipFill>
          <a:blip r:embed="rId6"/>
          <a:stretch>
            <a:fillRect/>
          </a:stretch>
        </p:blipFill>
        <p:spPr>
          <a:xfrm>
            <a:off x="4475074" y="1887322"/>
            <a:ext cx="395021" cy="395021"/>
          </a:xfrm>
          <a:prstGeom prst="rect">
            <a:avLst/>
          </a:prstGeom>
        </p:spPr>
      </p:pic>
      <p:sp>
        <p:nvSpPr>
          <p:cNvPr id="13" name="Text 9">
            <a:hlinkClick r:id="rId5" action="ppaction://hlinksldjump"/>
          </p:cNvPr>
          <p:cNvSpPr/>
          <p:nvPr/>
        </p:nvSpPr>
        <p:spPr>
          <a:xfrm>
            <a:off x="3447288" y="2651760"/>
            <a:ext cx="2450592" cy="502920"/>
          </a:xfrm>
          <a:prstGeom prst="rect">
            <a:avLst/>
          </a:prstGeom>
          <a:noFill/>
          <a:ln/>
        </p:spPr>
        <p:txBody>
          <a:bodyPr wrap="square" lIns="0" tIns="0" rIns="0" bIns="0" rtlCol="0" anchor="ctr"/>
          <a:lstStyle/>
          <a:p>
            <a:pPr marL="0" indent="0" algn="ctr">
              <a:buNone/>
            </a:pPr>
            <a:r>
              <a:rPr lang="en-US" sz="1350" b="1" u="sng" dirty="0">
                <a:solidFill>
                  <a:srgbClr val="FFFFFF"/>
                </a:solidFill>
                <a:latin typeface="Calibri" pitchFamily="34" charset="0"/>
                <a:ea typeface="Calibri" pitchFamily="34" charset="-122"/>
                <a:cs typeface="Calibri" pitchFamily="34" charset="-120"/>
                <a:hlinkClick r:id="rId5" action="ppaction://hlinksldjump">
                  <a:extLst>
                    <a:ext uri="{A12FA001-AC4F-418D-AE19-62706E023703}">
                      <ahyp:hlinkClr xmlns:ahyp="http://schemas.microsoft.com/office/drawing/2018/hyperlinkcolor" val="tx"/>
                    </a:ext>
                  </a:extLst>
                </a:hlinkClick>
              </a:rPr>
              <a:t>Core Features</a:t>
            </a:r>
            <a:endParaRPr lang="en-US" sz="1350" dirty="0"/>
          </a:p>
        </p:txBody>
      </p:sp>
      <p:sp>
        <p:nvSpPr>
          <p:cNvPr id="14" name="Text 10">
            <a:hlinkClick r:id="rId5" action="ppaction://hlinksldjump"/>
          </p:cNvPr>
          <p:cNvSpPr/>
          <p:nvPr/>
        </p:nvSpPr>
        <p:spPr>
          <a:xfrm>
            <a:off x="3447288" y="3154680"/>
            <a:ext cx="2450592" cy="457200"/>
          </a:xfrm>
          <a:prstGeom prst="rect">
            <a:avLst/>
          </a:prstGeom>
          <a:noFill/>
          <a:ln/>
        </p:spPr>
        <p:txBody>
          <a:bodyPr wrap="square" lIns="0" tIns="0" rIns="0" bIns="0" rtlCol="0" anchor="ctr"/>
          <a:lstStyle/>
          <a:p>
            <a:pPr marL="0" indent="0" algn="ctr">
              <a:buNone/>
            </a:pPr>
            <a:r>
              <a:rPr lang="en-US" sz="1000" u="sng" dirty="0">
                <a:solidFill>
                  <a:srgbClr val="9BA8D1"/>
                </a:solidFill>
                <a:latin typeface="Calibri" pitchFamily="34" charset="0"/>
                <a:ea typeface="Calibri" pitchFamily="34" charset="-122"/>
                <a:cs typeface="Calibri" pitchFamily="34" charset="-120"/>
                <a:hlinkClick r:id="rId5" action="ppaction://hlinksldjump">
                  <a:extLst>
                    <a:ext uri="{A12FA001-AC4F-418D-AE19-62706E023703}">
                      <ahyp:hlinkClr xmlns:ahyp="http://schemas.microsoft.com/office/drawing/2018/hyperlinkcolor" val="tx"/>
                    </a:ext>
                  </a:extLst>
                </a:hlinkClick>
              </a:rPr>
              <a:t>RBAC · real-time · integrations</a:t>
            </a:r>
            <a:endParaRPr lang="en-US" sz="1000" dirty="0"/>
          </a:p>
        </p:txBody>
      </p:sp>
      <p:sp>
        <p:nvSpPr>
          <p:cNvPr id="15" name="Text 11"/>
          <p:cNvSpPr/>
          <p:nvPr/>
        </p:nvSpPr>
        <p:spPr>
          <a:xfrm>
            <a:off x="3447288" y="1508760"/>
            <a:ext cx="548640" cy="274320"/>
          </a:xfrm>
          <a:prstGeom prst="rect">
            <a:avLst/>
          </a:prstGeom>
          <a:noFill/>
          <a:ln/>
        </p:spPr>
        <p:txBody>
          <a:bodyPr wrap="square" lIns="0" tIns="0" rIns="0" bIns="0" rtlCol="0" anchor="ctr"/>
          <a:lstStyle/>
          <a:p>
            <a:pPr marL="0" indent="0">
              <a:buNone/>
            </a:pPr>
            <a:r>
              <a:rPr lang="en-US" sz="1000" b="1" dirty="0">
                <a:solidFill>
                  <a:srgbClr val="5A6699"/>
                </a:solidFill>
                <a:latin typeface="Calibri" pitchFamily="34" charset="0"/>
                <a:ea typeface="Calibri" pitchFamily="34" charset="-122"/>
                <a:cs typeface="Calibri" pitchFamily="34" charset="-120"/>
              </a:rPr>
              <a:t>02</a:t>
            </a:r>
            <a:endParaRPr lang="en-US" sz="1000" dirty="0"/>
          </a:p>
        </p:txBody>
      </p:sp>
      <p:sp>
        <p:nvSpPr>
          <p:cNvPr id="16" name="Shape 12">
            <a:hlinkClick r:id="rId7" action="ppaction://hlinksldjump"/>
          </p:cNvPr>
          <p:cNvSpPr/>
          <p:nvPr/>
        </p:nvSpPr>
        <p:spPr>
          <a:xfrm>
            <a:off x="6126480" y="1417320"/>
            <a:ext cx="2670048" cy="2331720"/>
          </a:xfrm>
          <a:prstGeom prst="roundRect">
            <a:avLst>
              <a:gd name="adj" fmla="val 3922"/>
            </a:avLst>
          </a:prstGeom>
          <a:solidFill>
            <a:srgbClr val="1A2550"/>
          </a:solidFill>
          <a:ln w="12700">
            <a:solidFill>
              <a:srgbClr val="31407A"/>
            </a:solidFill>
            <a:prstDash val="solid"/>
          </a:ln>
          <a:effectLst>
            <a:outerShdw blurRad="76200" dist="25400" dir="2700000" algn="bl" rotWithShape="0">
              <a:srgbClr val="000000">
                <a:alpha val="10000"/>
              </a:srgbClr>
            </a:outerShdw>
          </a:effectLst>
        </p:spPr>
      </p:sp>
      <p:sp>
        <p:nvSpPr>
          <p:cNvPr id="17" name="Shape 13"/>
          <p:cNvSpPr/>
          <p:nvPr/>
        </p:nvSpPr>
        <p:spPr>
          <a:xfrm>
            <a:off x="7050024" y="1673352"/>
            <a:ext cx="822960" cy="822960"/>
          </a:xfrm>
          <a:prstGeom prst="ellipse">
            <a:avLst/>
          </a:prstGeom>
          <a:solidFill>
            <a:srgbClr val="3A4A8C"/>
          </a:solidFill>
          <a:ln/>
          <a:effectLst>
            <a:outerShdw blurRad="76200" dist="25400" dir="2700000" algn="bl" rotWithShape="0">
              <a:srgbClr val="000000">
                <a:alpha val="10000"/>
              </a:srgbClr>
            </a:outerShdw>
          </a:effectLst>
        </p:spPr>
      </p:sp>
      <p:pic>
        <p:nvPicPr>
          <p:cNvPr id="18" name="Image 2" descr="./icons/server_white.png"/>
          <p:cNvPicPr>
            <a:picLocks noChangeAspect="1"/>
          </p:cNvPicPr>
          <p:nvPr/>
        </p:nvPicPr>
        <p:blipFill>
          <a:blip r:embed="rId8"/>
          <a:stretch>
            <a:fillRect/>
          </a:stretch>
        </p:blipFill>
        <p:spPr>
          <a:xfrm>
            <a:off x="7263994" y="1887322"/>
            <a:ext cx="395021" cy="395021"/>
          </a:xfrm>
          <a:prstGeom prst="rect">
            <a:avLst/>
          </a:prstGeom>
        </p:spPr>
      </p:pic>
      <p:sp>
        <p:nvSpPr>
          <p:cNvPr id="19" name="Text 14">
            <a:hlinkClick r:id="rId7" action="ppaction://hlinksldjump"/>
          </p:cNvPr>
          <p:cNvSpPr/>
          <p:nvPr/>
        </p:nvSpPr>
        <p:spPr>
          <a:xfrm>
            <a:off x="6236208" y="2651760"/>
            <a:ext cx="2450592" cy="502920"/>
          </a:xfrm>
          <a:prstGeom prst="rect">
            <a:avLst/>
          </a:prstGeom>
          <a:noFill/>
          <a:ln/>
        </p:spPr>
        <p:txBody>
          <a:bodyPr wrap="square" lIns="0" tIns="0" rIns="0" bIns="0" rtlCol="0" anchor="ctr"/>
          <a:lstStyle/>
          <a:p>
            <a:pPr marL="0" indent="0" algn="ctr">
              <a:buNone/>
            </a:pPr>
            <a:r>
              <a:rPr lang="en-US" sz="1350" b="1" u="sng" dirty="0">
                <a:solidFill>
                  <a:srgbClr val="FFFFFF"/>
                </a:solidFill>
                <a:latin typeface="Calibri" pitchFamily="34" charset="0"/>
                <a:ea typeface="Calibri" pitchFamily="34" charset="-122"/>
                <a:cs typeface="Calibri" pitchFamily="34" charset="-120"/>
                <a:hlinkClick r:id="rId7" action="ppaction://hlinksldjump">
                  <a:extLst>
                    <a:ext uri="{A12FA001-AC4F-418D-AE19-62706E023703}">
                      <ahyp:hlinkClr xmlns:ahyp="http://schemas.microsoft.com/office/drawing/2018/hyperlinkcolor" val="tx"/>
                    </a:ext>
                  </a:extLst>
                </a:hlinkClick>
              </a:rPr>
              <a:t>Tech Stack &amp; Architecture</a:t>
            </a:r>
            <a:endParaRPr lang="en-US" sz="1350" dirty="0"/>
          </a:p>
        </p:txBody>
      </p:sp>
      <p:sp>
        <p:nvSpPr>
          <p:cNvPr id="20" name="Text 15">
            <a:hlinkClick r:id="rId7" action="ppaction://hlinksldjump"/>
          </p:cNvPr>
          <p:cNvSpPr/>
          <p:nvPr/>
        </p:nvSpPr>
        <p:spPr>
          <a:xfrm>
            <a:off x="6236208" y="3154680"/>
            <a:ext cx="2450592" cy="457200"/>
          </a:xfrm>
          <a:prstGeom prst="rect">
            <a:avLst/>
          </a:prstGeom>
          <a:noFill/>
          <a:ln/>
        </p:spPr>
        <p:txBody>
          <a:bodyPr wrap="square" lIns="0" tIns="0" rIns="0" bIns="0" rtlCol="0" anchor="ctr"/>
          <a:lstStyle/>
          <a:p>
            <a:pPr marL="0" indent="0" algn="ctr">
              <a:buNone/>
            </a:pPr>
            <a:r>
              <a:rPr lang="en-US" sz="1000" u="sng" dirty="0">
                <a:solidFill>
                  <a:srgbClr val="9BA8D1"/>
                </a:solidFill>
                <a:latin typeface="Calibri" pitchFamily="34" charset="0"/>
                <a:ea typeface="Calibri" pitchFamily="34" charset="-122"/>
                <a:cs typeface="Calibri" pitchFamily="34" charset="-120"/>
                <a:hlinkClick r:id="rId7" action="ppaction://hlinksldjump">
                  <a:extLst>
                    <a:ext uri="{A12FA001-AC4F-418D-AE19-62706E023703}">
                      <ahyp:hlinkClr xmlns:ahyp="http://schemas.microsoft.com/office/drawing/2018/hyperlinkcolor" val="tx"/>
                    </a:ext>
                  </a:extLst>
                </a:hlinkClick>
              </a:rPr>
              <a:t>Next.js 16 · tRPC · Postgres</a:t>
            </a:r>
            <a:endParaRPr lang="en-US" sz="1000" dirty="0"/>
          </a:p>
        </p:txBody>
      </p:sp>
      <p:sp>
        <p:nvSpPr>
          <p:cNvPr id="21" name="Text 16"/>
          <p:cNvSpPr/>
          <p:nvPr/>
        </p:nvSpPr>
        <p:spPr>
          <a:xfrm>
            <a:off x="6236208" y="1508760"/>
            <a:ext cx="548640" cy="274320"/>
          </a:xfrm>
          <a:prstGeom prst="rect">
            <a:avLst/>
          </a:prstGeom>
          <a:noFill/>
          <a:ln/>
        </p:spPr>
        <p:txBody>
          <a:bodyPr wrap="square" lIns="0" tIns="0" rIns="0" bIns="0" rtlCol="0" anchor="ctr"/>
          <a:lstStyle/>
          <a:p>
            <a:pPr marL="0" indent="0">
              <a:buNone/>
            </a:pPr>
            <a:r>
              <a:rPr lang="en-US" sz="1000" b="1" dirty="0">
                <a:solidFill>
                  <a:srgbClr val="5A6699"/>
                </a:solidFill>
                <a:latin typeface="Calibri" pitchFamily="34" charset="0"/>
                <a:ea typeface="Calibri" pitchFamily="34" charset="-122"/>
                <a:cs typeface="Calibri" pitchFamily="34" charset="-120"/>
              </a:rPr>
              <a:t>03</a:t>
            </a:r>
            <a:endParaRPr lang="en-US" sz="1000" dirty="0"/>
          </a:p>
        </p:txBody>
      </p:sp>
      <p:sp>
        <p:nvSpPr>
          <p:cNvPr id="22" name="Shape 17">
            <a:hlinkClick r:id="rId9" action="ppaction://hlinksldjump"/>
          </p:cNvPr>
          <p:cNvSpPr/>
          <p:nvPr/>
        </p:nvSpPr>
        <p:spPr>
          <a:xfrm>
            <a:off x="8915400" y="1417320"/>
            <a:ext cx="2670048" cy="2331720"/>
          </a:xfrm>
          <a:prstGeom prst="roundRect">
            <a:avLst>
              <a:gd name="adj" fmla="val 3922"/>
            </a:avLst>
          </a:prstGeom>
          <a:solidFill>
            <a:srgbClr val="1A2550"/>
          </a:solidFill>
          <a:ln w="12700">
            <a:solidFill>
              <a:srgbClr val="31407A"/>
            </a:solidFill>
            <a:prstDash val="solid"/>
          </a:ln>
          <a:effectLst>
            <a:outerShdw blurRad="76200" dist="25400" dir="2700000" algn="bl" rotWithShape="0">
              <a:srgbClr val="000000">
                <a:alpha val="10000"/>
              </a:srgbClr>
            </a:outerShdw>
          </a:effectLst>
        </p:spPr>
      </p:sp>
      <p:sp>
        <p:nvSpPr>
          <p:cNvPr id="23" name="Shape 18"/>
          <p:cNvSpPr/>
          <p:nvPr/>
        </p:nvSpPr>
        <p:spPr>
          <a:xfrm>
            <a:off x="9838944" y="1673352"/>
            <a:ext cx="822960" cy="822960"/>
          </a:xfrm>
          <a:prstGeom prst="ellipse">
            <a:avLst/>
          </a:prstGeom>
          <a:solidFill>
            <a:srgbClr val="3A4A8C"/>
          </a:solidFill>
          <a:ln/>
          <a:effectLst>
            <a:outerShdw blurRad="76200" dist="25400" dir="2700000" algn="bl" rotWithShape="0">
              <a:srgbClr val="000000">
                <a:alpha val="10000"/>
              </a:srgbClr>
            </a:outerShdw>
          </a:effectLst>
        </p:spPr>
      </p:sp>
      <p:pic>
        <p:nvPicPr>
          <p:cNvPr id="24" name="Image 3" descr="./icons/brain_white.png"/>
          <p:cNvPicPr>
            <a:picLocks noChangeAspect="1"/>
          </p:cNvPicPr>
          <p:nvPr/>
        </p:nvPicPr>
        <p:blipFill>
          <a:blip r:embed="rId10"/>
          <a:stretch>
            <a:fillRect/>
          </a:stretch>
        </p:blipFill>
        <p:spPr>
          <a:xfrm>
            <a:off x="10052914" y="1887322"/>
            <a:ext cx="395021" cy="395021"/>
          </a:xfrm>
          <a:prstGeom prst="rect">
            <a:avLst/>
          </a:prstGeom>
        </p:spPr>
      </p:pic>
      <p:sp>
        <p:nvSpPr>
          <p:cNvPr id="25" name="Text 19">
            <a:hlinkClick r:id="rId9" action="ppaction://hlinksldjump"/>
          </p:cNvPr>
          <p:cNvSpPr/>
          <p:nvPr/>
        </p:nvSpPr>
        <p:spPr>
          <a:xfrm>
            <a:off x="9025128" y="2651760"/>
            <a:ext cx="2450592" cy="502920"/>
          </a:xfrm>
          <a:prstGeom prst="rect">
            <a:avLst/>
          </a:prstGeom>
          <a:noFill/>
          <a:ln/>
        </p:spPr>
        <p:txBody>
          <a:bodyPr wrap="square" lIns="0" tIns="0" rIns="0" bIns="0" rtlCol="0" anchor="ctr"/>
          <a:lstStyle/>
          <a:p>
            <a:pPr marL="0" indent="0" algn="ctr">
              <a:buNone/>
            </a:pPr>
            <a:r>
              <a:rPr lang="en-US" sz="1350" b="1" u="sng" dirty="0">
                <a:solidFill>
                  <a:srgbClr val="FFFFFF"/>
                </a:solidFill>
                <a:latin typeface="Calibri" pitchFamily="34" charset="0"/>
                <a:ea typeface="Calibri" pitchFamily="34" charset="-122"/>
                <a:cs typeface="Calibri" pitchFamily="34" charset="-120"/>
                <a:hlinkClick r:id="rId9" action="ppaction://hlinksldjump">
                  <a:extLst>
                    <a:ext uri="{A12FA001-AC4F-418D-AE19-62706E023703}">
                      <ahyp:hlinkClr xmlns:ahyp="http://schemas.microsoft.com/office/drawing/2018/hyperlinkcolor" val="tx"/>
                    </a:ext>
                  </a:extLst>
                </a:hlinkClick>
              </a:rPr>
              <a:t>AI Layer &amp; Agentic Workflows</a:t>
            </a:r>
            <a:endParaRPr lang="en-US" sz="1350" dirty="0"/>
          </a:p>
        </p:txBody>
      </p:sp>
      <p:sp>
        <p:nvSpPr>
          <p:cNvPr id="26" name="Text 20">
            <a:hlinkClick r:id="rId9" action="ppaction://hlinksldjump"/>
          </p:cNvPr>
          <p:cNvSpPr/>
          <p:nvPr/>
        </p:nvSpPr>
        <p:spPr>
          <a:xfrm>
            <a:off x="9025128" y="3154680"/>
            <a:ext cx="2450592" cy="457200"/>
          </a:xfrm>
          <a:prstGeom prst="rect">
            <a:avLst/>
          </a:prstGeom>
          <a:noFill/>
          <a:ln/>
        </p:spPr>
        <p:txBody>
          <a:bodyPr wrap="square" lIns="0" tIns="0" rIns="0" bIns="0" rtlCol="0" anchor="ctr"/>
          <a:lstStyle/>
          <a:p>
            <a:pPr marL="0" indent="0" algn="ctr">
              <a:buNone/>
            </a:pPr>
            <a:r>
              <a:rPr lang="en-US" sz="1000" u="sng" dirty="0">
                <a:solidFill>
                  <a:srgbClr val="9BA8D1"/>
                </a:solidFill>
                <a:latin typeface="Calibri" pitchFamily="34" charset="0"/>
                <a:ea typeface="Calibri" pitchFamily="34" charset="-122"/>
                <a:cs typeface="Calibri" pitchFamily="34" charset="-120"/>
                <a:hlinkClick r:id="rId9" action="ppaction://hlinksldjump">
                  <a:extLst>
                    <a:ext uri="{A12FA001-AC4F-418D-AE19-62706E023703}">
                      <ahyp:hlinkClr xmlns:ahyp="http://schemas.microsoft.com/office/drawing/2018/hyperlinkcolor" val="tx"/>
                    </a:ext>
                  </a:extLst>
                </a:hlinkClick>
              </a:rPr>
              <a:t>Claude · Groq · Gemini · ADK</a:t>
            </a:r>
            <a:endParaRPr lang="en-US" sz="1000" dirty="0"/>
          </a:p>
        </p:txBody>
      </p:sp>
      <p:sp>
        <p:nvSpPr>
          <p:cNvPr id="27" name="Text 21"/>
          <p:cNvSpPr/>
          <p:nvPr/>
        </p:nvSpPr>
        <p:spPr>
          <a:xfrm>
            <a:off x="9025128" y="1508760"/>
            <a:ext cx="548640" cy="274320"/>
          </a:xfrm>
          <a:prstGeom prst="rect">
            <a:avLst/>
          </a:prstGeom>
          <a:noFill/>
          <a:ln/>
        </p:spPr>
        <p:txBody>
          <a:bodyPr wrap="square" lIns="0" tIns="0" rIns="0" bIns="0" rtlCol="0" anchor="ctr"/>
          <a:lstStyle/>
          <a:p>
            <a:pPr marL="0" indent="0">
              <a:buNone/>
            </a:pPr>
            <a:r>
              <a:rPr lang="en-US" sz="1000" b="1" dirty="0">
                <a:solidFill>
                  <a:srgbClr val="5A6699"/>
                </a:solidFill>
                <a:latin typeface="Calibri" pitchFamily="34" charset="0"/>
                <a:ea typeface="Calibri" pitchFamily="34" charset="-122"/>
                <a:cs typeface="Calibri" pitchFamily="34" charset="-120"/>
              </a:rPr>
              <a:t>04</a:t>
            </a:r>
            <a:endParaRPr lang="en-US" sz="1000" dirty="0"/>
          </a:p>
        </p:txBody>
      </p:sp>
      <p:sp>
        <p:nvSpPr>
          <p:cNvPr id="28" name="Shape 22">
            <a:hlinkClick r:id="rId11" action="ppaction://hlinksldjump"/>
          </p:cNvPr>
          <p:cNvSpPr/>
          <p:nvPr/>
        </p:nvSpPr>
        <p:spPr>
          <a:xfrm>
            <a:off x="548640" y="3931920"/>
            <a:ext cx="2670048" cy="2331720"/>
          </a:xfrm>
          <a:prstGeom prst="roundRect">
            <a:avLst>
              <a:gd name="adj" fmla="val 3922"/>
            </a:avLst>
          </a:prstGeom>
          <a:solidFill>
            <a:srgbClr val="1A2550"/>
          </a:solidFill>
          <a:ln w="12700">
            <a:solidFill>
              <a:srgbClr val="31407A"/>
            </a:solidFill>
            <a:prstDash val="solid"/>
          </a:ln>
          <a:effectLst>
            <a:outerShdw blurRad="76200" dist="25400" dir="2700000" algn="bl" rotWithShape="0">
              <a:srgbClr val="000000">
                <a:alpha val="10000"/>
              </a:srgbClr>
            </a:outerShdw>
          </a:effectLst>
        </p:spPr>
      </p:sp>
      <p:sp>
        <p:nvSpPr>
          <p:cNvPr id="29" name="Shape 23"/>
          <p:cNvSpPr/>
          <p:nvPr/>
        </p:nvSpPr>
        <p:spPr>
          <a:xfrm>
            <a:off x="1472184" y="4187952"/>
            <a:ext cx="822960" cy="822960"/>
          </a:xfrm>
          <a:prstGeom prst="ellipse">
            <a:avLst/>
          </a:prstGeom>
          <a:solidFill>
            <a:srgbClr val="3A4A8C"/>
          </a:solidFill>
          <a:ln/>
          <a:effectLst>
            <a:outerShdw blurRad="76200" dist="25400" dir="2700000" algn="bl" rotWithShape="0">
              <a:srgbClr val="000000">
                <a:alpha val="10000"/>
              </a:srgbClr>
            </a:outerShdw>
          </a:effectLst>
        </p:spPr>
      </p:sp>
      <p:pic>
        <p:nvPicPr>
          <p:cNvPr id="30" name="Image 4" descr="./icons/star_white.png"/>
          <p:cNvPicPr>
            <a:picLocks noChangeAspect="1"/>
          </p:cNvPicPr>
          <p:nvPr/>
        </p:nvPicPr>
        <p:blipFill>
          <a:blip r:embed="rId12"/>
          <a:stretch>
            <a:fillRect/>
          </a:stretch>
        </p:blipFill>
        <p:spPr>
          <a:xfrm>
            <a:off x="1686154" y="4401922"/>
            <a:ext cx="395021" cy="395021"/>
          </a:xfrm>
          <a:prstGeom prst="rect">
            <a:avLst/>
          </a:prstGeom>
        </p:spPr>
      </p:pic>
      <p:sp>
        <p:nvSpPr>
          <p:cNvPr id="31" name="Text 24">
            <a:hlinkClick r:id="rId11" action="ppaction://hlinksldjump"/>
          </p:cNvPr>
          <p:cNvSpPr/>
          <p:nvPr/>
        </p:nvSpPr>
        <p:spPr>
          <a:xfrm>
            <a:off x="658368" y="5166360"/>
            <a:ext cx="2450592" cy="502920"/>
          </a:xfrm>
          <a:prstGeom prst="rect">
            <a:avLst/>
          </a:prstGeom>
          <a:noFill/>
          <a:ln/>
        </p:spPr>
        <p:txBody>
          <a:bodyPr wrap="square" lIns="0" tIns="0" rIns="0" bIns="0" rtlCol="0" anchor="ctr"/>
          <a:lstStyle/>
          <a:p>
            <a:pPr marL="0" indent="0" algn="ctr">
              <a:buNone/>
            </a:pPr>
            <a:r>
              <a:rPr lang="en-US" sz="1350" b="1" u="sng" dirty="0">
                <a:solidFill>
                  <a:srgbClr val="FFFFFF"/>
                </a:solidFill>
                <a:latin typeface="Calibri" pitchFamily="34" charset="0"/>
                <a:ea typeface="Calibri" pitchFamily="34" charset="-122"/>
                <a:cs typeface="Calibri" pitchFamily="34" charset="-120"/>
                <a:hlinkClick r:id="rId11" action="ppaction://hlinksldjump">
                  <a:extLst>
                    <a:ext uri="{A12FA001-AC4F-418D-AE19-62706E023703}">
                      <ahyp:hlinkClr xmlns:ahyp="http://schemas.microsoft.com/office/drawing/2018/hyperlinkcolor" val="tx"/>
                    </a:ext>
                  </a:extLst>
                </a:hlinkClick>
              </a:rPr>
              <a:t>Signature Features</a:t>
            </a:r>
            <a:endParaRPr lang="en-US" sz="1350" dirty="0"/>
          </a:p>
        </p:txBody>
      </p:sp>
      <p:sp>
        <p:nvSpPr>
          <p:cNvPr id="32" name="Text 25">
            <a:hlinkClick r:id="rId11" action="ppaction://hlinksldjump"/>
          </p:cNvPr>
          <p:cNvSpPr/>
          <p:nvPr/>
        </p:nvSpPr>
        <p:spPr>
          <a:xfrm>
            <a:off x="658368" y="5669280"/>
            <a:ext cx="2450592" cy="457200"/>
          </a:xfrm>
          <a:prstGeom prst="rect">
            <a:avLst/>
          </a:prstGeom>
          <a:noFill/>
          <a:ln/>
        </p:spPr>
        <p:txBody>
          <a:bodyPr wrap="square" lIns="0" tIns="0" rIns="0" bIns="0" rtlCol="0" anchor="ctr"/>
          <a:lstStyle/>
          <a:p>
            <a:pPr marL="0" indent="0" algn="ctr">
              <a:buNone/>
            </a:pPr>
            <a:r>
              <a:rPr lang="en-US" sz="1000" u="sng" dirty="0">
                <a:solidFill>
                  <a:srgbClr val="9BA8D1"/>
                </a:solidFill>
                <a:latin typeface="Calibri" pitchFamily="34" charset="0"/>
                <a:ea typeface="Calibri" pitchFamily="34" charset="-122"/>
                <a:cs typeface="Calibri" pitchFamily="34" charset="-120"/>
                <a:hlinkClick r:id="rId11" action="ppaction://hlinksldjump">
                  <a:extLst>
                    <a:ext uri="{A12FA001-AC4F-418D-AE19-62706E023703}">
                      <ahyp:hlinkClr xmlns:ahyp="http://schemas.microsoft.com/office/drawing/2018/hyperlinkcolor" val="tx"/>
                    </a:ext>
                  </a:extLst>
                </a:hlinkClick>
              </a:rPr>
              <a:t>Auto-assignment · orchestration</a:t>
            </a:r>
            <a:endParaRPr lang="en-US" sz="1000" dirty="0"/>
          </a:p>
        </p:txBody>
      </p:sp>
      <p:sp>
        <p:nvSpPr>
          <p:cNvPr id="33" name="Text 26"/>
          <p:cNvSpPr/>
          <p:nvPr/>
        </p:nvSpPr>
        <p:spPr>
          <a:xfrm>
            <a:off x="658368" y="4023360"/>
            <a:ext cx="548640" cy="274320"/>
          </a:xfrm>
          <a:prstGeom prst="rect">
            <a:avLst/>
          </a:prstGeom>
          <a:noFill/>
          <a:ln/>
        </p:spPr>
        <p:txBody>
          <a:bodyPr wrap="square" lIns="0" tIns="0" rIns="0" bIns="0" rtlCol="0" anchor="ctr"/>
          <a:lstStyle/>
          <a:p>
            <a:pPr marL="0" indent="0">
              <a:buNone/>
            </a:pPr>
            <a:r>
              <a:rPr lang="en-US" sz="1000" b="1" dirty="0">
                <a:solidFill>
                  <a:srgbClr val="5A6699"/>
                </a:solidFill>
                <a:latin typeface="Calibri" pitchFamily="34" charset="0"/>
                <a:ea typeface="Calibri" pitchFamily="34" charset="-122"/>
                <a:cs typeface="Calibri" pitchFamily="34" charset="-120"/>
              </a:rPr>
              <a:t>05</a:t>
            </a:r>
            <a:endParaRPr lang="en-US" sz="1000" dirty="0"/>
          </a:p>
        </p:txBody>
      </p:sp>
      <p:sp>
        <p:nvSpPr>
          <p:cNvPr id="34" name="Shape 27">
            <a:hlinkClick r:id="rId13" action="ppaction://hlinksldjump"/>
          </p:cNvPr>
          <p:cNvSpPr/>
          <p:nvPr/>
        </p:nvSpPr>
        <p:spPr>
          <a:xfrm>
            <a:off x="3337560" y="3931920"/>
            <a:ext cx="2670048" cy="2331720"/>
          </a:xfrm>
          <a:prstGeom prst="roundRect">
            <a:avLst>
              <a:gd name="adj" fmla="val 3922"/>
            </a:avLst>
          </a:prstGeom>
          <a:solidFill>
            <a:srgbClr val="1A2550"/>
          </a:solidFill>
          <a:ln w="12700">
            <a:solidFill>
              <a:srgbClr val="31407A"/>
            </a:solidFill>
            <a:prstDash val="solid"/>
          </a:ln>
          <a:effectLst>
            <a:outerShdw blurRad="76200" dist="25400" dir="2700000" algn="bl" rotWithShape="0">
              <a:srgbClr val="000000">
                <a:alpha val="10000"/>
              </a:srgbClr>
            </a:outerShdw>
          </a:effectLst>
        </p:spPr>
      </p:sp>
      <p:sp>
        <p:nvSpPr>
          <p:cNvPr id="35" name="Shape 28"/>
          <p:cNvSpPr/>
          <p:nvPr/>
        </p:nvSpPr>
        <p:spPr>
          <a:xfrm>
            <a:off x="4261104" y="4187952"/>
            <a:ext cx="822960" cy="822960"/>
          </a:xfrm>
          <a:prstGeom prst="ellipse">
            <a:avLst/>
          </a:prstGeom>
          <a:solidFill>
            <a:srgbClr val="3A4A8C"/>
          </a:solidFill>
          <a:ln/>
          <a:effectLst>
            <a:outerShdw blurRad="76200" dist="25400" dir="2700000" algn="bl" rotWithShape="0">
              <a:srgbClr val="000000">
                <a:alpha val="10000"/>
              </a:srgbClr>
            </a:outerShdw>
          </a:effectLst>
        </p:spPr>
      </p:sp>
      <p:pic>
        <p:nvPicPr>
          <p:cNvPr id="36" name="Image 5" descr="./icons/users_white.png"/>
          <p:cNvPicPr>
            <a:picLocks noChangeAspect="1"/>
          </p:cNvPicPr>
          <p:nvPr/>
        </p:nvPicPr>
        <p:blipFill>
          <a:blip r:embed="rId14"/>
          <a:stretch>
            <a:fillRect/>
          </a:stretch>
        </p:blipFill>
        <p:spPr>
          <a:xfrm>
            <a:off x="4475074" y="4401922"/>
            <a:ext cx="395021" cy="395021"/>
          </a:xfrm>
          <a:prstGeom prst="rect">
            <a:avLst/>
          </a:prstGeom>
        </p:spPr>
      </p:pic>
      <p:sp>
        <p:nvSpPr>
          <p:cNvPr id="37" name="Text 29">
            <a:hlinkClick r:id="rId13" action="ppaction://hlinksldjump"/>
          </p:cNvPr>
          <p:cNvSpPr/>
          <p:nvPr/>
        </p:nvSpPr>
        <p:spPr>
          <a:xfrm>
            <a:off x="3447288" y="5166360"/>
            <a:ext cx="2450592" cy="502920"/>
          </a:xfrm>
          <a:prstGeom prst="rect">
            <a:avLst/>
          </a:prstGeom>
          <a:noFill/>
          <a:ln/>
        </p:spPr>
        <p:txBody>
          <a:bodyPr wrap="square" lIns="0" tIns="0" rIns="0" bIns="0" rtlCol="0" anchor="ctr"/>
          <a:lstStyle/>
          <a:p>
            <a:pPr marL="0" indent="0" algn="ctr">
              <a:buNone/>
            </a:pPr>
            <a:r>
              <a:rPr lang="en-US" sz="1350" b="1" u="sng" dirty="0">
                <a:solidFill>
                  <a:srgbClr val="FFFFFF"/>
                </a:solidFill>
                <a:latin typeface="Calibri" pitchFamily="34" charset="0"/>
                <a:ea typeface="Calibri" pitchFamily="34" charset="-122"/>
                <a:cs typeface="Calibri" pitchFamily="34" charset="-120"/>
                <a:hlinkClick r:id="rId13" action="ppaction://hlinksldjump">
                  <a:extLst>
                    <a:ext uri="{A12FA001-AC4F-418D-AE19-62706E023703}">
                      <ahyp:hlinkClr xmlns:ahyp="http://schemas.microsoft.com/office/drawing/2018/hyperlinkcolor" val="tx"/>
                    </a:ext>
                  </a:extLst>
                </a:hlinkClick>
              </a:rPr>
              <a:t>Roles &amp; Security</a:t>
            </a:r>
            <a:endParaRPr lang="en-US" sz="1350" dirty="0"/>
          </a:p>
        </p:txBody>
      </p:sp>
      <p:sp>
        <p:nvSpPr>
          <p:cNvPr id="38" name="Text 30">
            <a:hlinkClick r:id="rId13" action="ppaction://hlinksldjump"/>
          </p:cNvPr>
          <p:cNvSpPr/>
          <p:nvPr/>
        </p:nvSpPr>
        <p:spPr>
          <a:xfrm>
            <a:off x="3447288" y="5669280"/>
            <a:ext cx="2450592" cy="457200"/>
          </a:xfrm>
          <a:prstGeom prst="rect">
            <a:avLst/>
          </a:prstGeom>
          <a:noFill/>
          <a:ln/>
        </p:spPr>
        <p:txBody>
          <a:bodyPr wrap="square" lIns="0" tIns="0" rIns="0" bIns="0" rtlCol="0" anchor="ctr"/>
          <a:lstStyle/>
          <a:p>
            <a:pPr marL="0" indent="0" algn="ctr">
              <a:buNone/>
            </a:pPr>
            <a:r>
              <a:rPr lang="en-US" sz="1000" u="sng" dirty="0">
                <a:solidFill>
                  <a:srgbClr val="9BA8D1"/>
                </a:solidFill>
                <a:latin typeface="Calibri" pitchFamily="34" charset="0"/>
                <a:ea typeface="Calibri" pitchFamily="34" charset="-122"/>
                <a:cs typeface="Calibri" pitchFamily="34" charset="-120"/>
                <a:hlinkClick r:id="rId13" action="ppaction://hlinksldjump">
                  <a:extLst>
                    <a:ext uri="{A12FA001-AC4F-418D-AE19-62706E023703}">
                      <ahyp:hlinkClr xmlns:ahyp="http://schemas.microsoft.com/office/drawing/2018/hyperlinkcolor" val="tx"/>
                    </a:ext>
                  </a:extLst>
                </a:hlinkClick>
              </a:rPr>
              <a:t>10 roles · RLS · Zod · sandboxing</a:t>
            </a:r>
            <a:endParaRPr lang="en-US" sz="1000" dirty="0"/>
          </a:p>
        </p:txBody>
      </p:sp>
      <p:sp>
        <p:nvSpPr>
          <p:cNvPr id="39" name="Text 31"/>
          <p:cNvSpPr/>
          <p:nvPr/>
        </p:nvSpPr>
        <p:spPr>
          <a:xfrm>
            <a:off x="3447288" y="4023360"/>
            <a:ext cx="548640" cy="274320"/>
          </a:xfrm>
          <a:prstGeom prst="rect">
            <a:avLst/>
          </a:prstGeom>
          <a:noFill/>
          <a:ln/>
        </p:spPr>
        <p:txBody>
          <a:bodyPr wrap="square" lIns="0" tIns="0" rIns="0" bIns="0" rtlCol="0" anchor="ctr"/>
          <a:lstStyle/>
          <a:p>
            <a:pPr marL="0" indent="0">
              <a:buNone/>
            </a:pPr>
            <a:r>
              <a:rPr lang="en-US" sz="1000" b="1" dirty="0">
                <a:solidFill>
                  <a:srgbClr val="5A6699"/>
                </a:solidFill>
                <a:latin typeface="Calibri" pitchFamily="34" charset="0"/>
                <a:ea typeface="Calibri" pitchFamily="34" charset="-122"/>
                <a:cs typeface="Calibri" pitchFamily="34" charset="-120"/>
              </a:rPr>
              <a:t>06</a:t>
            </a:r>
            <a:endParaRPr lang="en-US" sz="1000" dirty="0"/>
          </a:p>
        </p:txBody>
      </p:sp>
      <p:sp>
        <p:nvSpPr>
          <p:cNvPr id="40" name="Shape 32">
            <a:hlinkClick r:id="rId15" action="ppaction://hlinksldjump"/>
          </p:cNvPr>
          <p:cNvSpPr/>
          <p:nvPr/>
        </p:nvSpPr>
        <p:spPr>
          <a:xfrm>
            <a:off x="6126480" y="3931920"/>
            <a:ext cx="2670048" cy="2331720"/>
          </a:xfrm>
          <a:prstGeom prst="roundRect">
            <a:avLst>
              <a:gd name="adj" fmla="val 3922"/>
            </a:avLst>
          </a:prstGeom>
          <a:solidFill>
            <a:srgbClr val="1A2550"/>
          </a:solidFill>
          <a:ln w="12700">
            <a:solidFill>
              <a:srgbClr val="31407A"/>
            </a:solidFill>
            <a:prstDash val="solid"/>
          </a:ln>
          <a:effectLst>
            <a:outerShdw blurRad="76200" dist="25400" dir="2700000" algn="bl" rotWithShape="0">
              <a:srgbClr val="000000">
                <a:alpha val="10000"/>
              </a:srgbClr>
            </a:outerShdw>
          </a:effectLst>
        </p:spPr>
      </p:sp>
      <p:sp>
        <p:nvSpPr>
          <p:cNvPr id="41" name="Shape 33"/>
          <p:cNvSpPr/>
          <p:nvPr/>
        </p:nvSpPr>
        <p:spPr>
          <a:xfrm>
            <a:off x="7050024" y="4187952"/>
            <a:ext cx="822960" cy="822960"/>
          </a:xfrm>
          <a:prstGeom prst="ellipse">
            <a:avLst/>
          </a:prstGeom>
          <a:solidFill>
            <a:srgbClr val="3A4A8C"/>
          </a:solidFill>
          <a:ln/>
          <a:effectLst>
            <a:outerShdw blurRad="76200" dist="25400" dir="2700000" algn="bl" rotWithShape="0">
              <a:srgbClr val="000000">
                <a:alpha val="10000"/>
              </a:srgbClr>
            </a:outerShdw>
          </a:effectLst>
        </p:spPr>
      </p:sp>
      <p:pic>
        <p:nvPicPr>
          <p:cNvPr id="42" name="Image 6" descr="./icons/tags_white.png"/>
          <p:cNvPicPr>
            <a:picLocks noChangeAspect="1"/>
          </p:cNvPicPr>
          <p:nvPr/>
        </p:nvPicPr>
        <p:blipFill>
          <a:blip r:embed="rId16"/>
          <a:stretch>
            <a:fillRect/>
          </a:stretch>
        </p:blipFill>
        <p:spPr>
          <a:xfrm>
            <a:off x="7263994" y="4401922"/>
            <a:ext cx="395021" cy="395021"/>
          </a:xfrm>
          <a:prstGeom prst="rect">
            <a:avLst/>
          </a:prstGeom>
        </p:spPr>
      </p:pic>
      <p:sp>
        <p:nvSpPr>
          <p:cNvPr id="43" name="Text 34">
            <a:hlinkClick r:id="rId15" action="ppaction://hlinksldjump"/>
          </p:cNvPr>
          <p:cNvSpPr/>
          <p:nvPr/>
        </p:nvSpPr>
        <p:spPr>
          <a:xfrm>
            <a:off x="6236208" y="5166360"/>
            <a:ext cx="2450592" cy="502920"/>
          </a:xfrm>
          <a:prstGeom prst="rect">
            <a:avLst/>
          </a:prstGeom>
          <a:noFill/>
          <a:ln/>
        </p:spPr>
        <p:txBody>
          <a:bodyPr wrap="square" lIns="0" tIns="0" rIns="0" bIns="0" rtlCol="0" anchor="ctr"/>
          <a:lstStyle/>
          <a:p>
            <a:pPr marL="0" indent="0" algn="ctr">
              <a:buNone/>
            </a:pPr>
            <a:r>
              <a:rPr lang="en-US" sz="1350" b="1" u="sng" dirty="0">
                <a:solidFill>
                  <a:srgbClr val="FFFFFF"/>
                </a:solidFill>
                <a:latin typeface="Calibri" pitchFamily="34" charset="0"/>
                <a:ea typeface="Calibri" pitchFamily="34" charset="-122"/>
                <a:cs typeface="Calibri" pitchFamily="34" charset="-120"/>
                <a:hlinkClick r:id="rId15" action="ppaction://hlinksldjump">
                  <a:extLst>
                    <a:ext uri="{A12FA001-AC4F-418D-AE19-62706E023703}">
                      <ahyp:hlinkClr xmlns:ahyp="http://schemas.microsoft.com/office/drawing/2018/hyperlinkcolor" val="tx"/>
                    </a:ext>
                  </a:extLst>
                </a:hlinkClick>
              </a:rPr>
              <a:t>Subscription Tiers</a:t>
            </a:r>
            <a:endParaRPr lang="en-US" sz="1350" dirty="0"/>
          </a:p>
        </p:txBody>
      </p:sp>
      <p:sp>
        <p:nvSpPr>
          <p:cNvPr id="44" name="Text 35">
            <a:hlinkClick r:id="rId15" action="ppaction://hlinksldjump"/>
          </p:cNvPr>
          <p:cNvSpPr/>
          <p:nvPr/>
        </p:nvSpPr>
        <p:spPr>
          <a:xfrm>
            <a:off x="6236208" y="5669280"/>
            <a:ext cx="2450592" cy="457200"/>
          </a:xfrm>
          <a:prstGeom prst="rect">
            <a:avLst/>
          </a:prstGeom>
          <a:noFill/>
          <a:ln/>
        </p:spPr>
        <p:txBody>
          <a:bodyPr wrap="square" lIns="0" tIns="0" rIns="0" bIns="0" rtlCol="0" anchor="ctr"/>
          <a:lstStyle/>
          <a:p>
            <a:pPr marL="0" indent="0" algn="ctr">
              <a:buNone/>
            </a:pPr>
            <a:r>
              <a:rPr lang="en-US" sz="1000" u="sng" dirty="0">
                <a:solidFill>
                  <a:srgbClr val="9BA8D1"/>
                </a:solidFill>
                <a:latin typeface="Calibri" pitchFamily="34" charset="0"/>
                <a:ea typeface="Calibri" pitchFamily="34" charset="-122"/>
                <a:cs typeface="Calibri" pitchFamily="34" charset="-120"/>
                <a:hlinkClick r:id="rId15" action="ppaction://hlinksldjump">
                  <a:extLst>
                    <a:ext uri="{A12FA001-AC4F-418D-AE19-62706E023703}">
                      <ahyp:hlinkClr xmlns:ahyp="http://schemas.microsoft.com/office/drawing/2018/hyperlinkcolor" val="tx"/>
                    </a:ext>
                  </a:extLst>
                </a:hlinkClick>
              </a:rPr>
              <a:t>Free · Pro · Enterprise</a:t>
            </a:r>
            <a:endParaRPr lang="en-US" sz="1000" dirty="0"/>
          </a:p>
        </p:txBody>
      </p:sp>
      <p:sp>
        <p:nvSpPr>
          <p:cNvPr id="45" name="Text 36"/>
          <p:cNvSpPr/>
          <p:nvPr/>
        </p:nvSpPr>
        <p:spPr>
          <a:xfrm>
            <a:off x="6236208" y="4023360"/>
            <a:ext cx="548640" cy="274320"/>
          </a:xfrm>
          <a:prstGeom prst="rect">
            <a:avLst/>
          </a:prstGeom>
          <a:noFill/>
          <a:ln/>
        </p:spPr>
        <p:txBody>
          <a:bodyPr wrap="square" lIns="0" tIns="0" rIns="0" bIns="0" rtlCol="0" anchor="ctr"/>
          <a:lstStyle/>
          <a:p>
            <a:pPr marL="0" indent="0">
              <a:buNone/>
            </a:pPr>
            <a:r>
              <a:rPr lang="en-US" sz="1000" b="1" dirty="0">
                <a:solidFill>
                  <a:srgbClr val="5A6699"/>
                </a:solidFill>
                <a:latin typeface="Calibri" pitchFamily="34" charset="0"/>
                <a:ea typeface="Calibri" pitchFamily="34" charset="-122"/>
                <a:cs typeface="Calibri" pitchFamily="34" charset="-120"/>
              </a:rPr>
              <a:t>07</a:t>
            </a:r>
            <a:endParaRPr lang="en-US" sz="1000" dirty="0"/>
          </a:p>
        </p:txBody>
      </p:sp>
      <p:sp>
        <p:nvSpPr>
          <p:cNvPr id="46" name="Shape 37">
            <a:hlinkClick r:id="rId17" action="ppaction://hlinksldjump"/>
          </p:cNvPr>
          <p:cNvSpPr/>
          <p:nvPr/>
        </p:nvSpPr>
        <p:spPr>
          <a:xfrm>
            <a:off x="8915400" y="3931920"/>
            <a:ext cx="2670048" cy="2331720"/>
          </a:xfrm>
          <a:prstGeom prst="roundRect">
            <a:avLst>
              <a:gd name="adj" fmla="val 3922"/>
            </a:avLst>
          </a:prstGeom>
          <a:solidFill>
            <a:srgbClr val="1A2550"/>
          </a:solidFill>
          <a:ln w="12700">
            <a:solidFill>
              <a:srgbClr val="31407A"/>
            </a:solidFill>
            <a:prstDash val="solid"/>
          </a:ln>
          <a:effectLst>
            <a:outerShdw blurRad="76200" dist="25400" dir="2700000" algn="bl" rotWithShape="0">
              <a:srgbClr val="000000">
                <a:alpha val="10000"/>
              </a:srgbClr>
            </a:outerShdw>
          </a:effectLst>
        </p:spPr>
      </p:sp>
      <p:sp>
        <p:nvSpPr>
          <p:cNvPr id="47" name="Shape 38"/>
          <p:cNvSpPr/>
          <p:nvPr/>
        </p:nvSpPr>
        <p:spPr>
          <a:xfrm>
            <a:off x="9838944" y="4187952"/>
            <a:ext cx="822960" cy="822960"/>
          </a:xfrm>
          <a:prstGeom prst="ellipse">
            <a:avLst/>
          </a:prstGeom>
          <a:solidFill>
            <a:srgbClr val="3A4A8C"/>
          </a:solidFill>
          <a:ln/>
          <a:effectLst>
            <a:outerShdw blurRad="76200" dist="25400" dir="2700000" algn="bl" rotWithShape="0">
              <a:srgbClr val="000000">
                <a:alpha val="10000"/>
              </a:srgbClr>
            </a:outerShdw>
          </a:effectLst>
        </p:spPr>
      </p:sp>
      <p:pic>
        <p:nvPicPr>
          <p:cNvPr id="48" name="Image 7" descr="./icons/route_white.png"/>
          <p:cNvPicPr>
            <a:picLocks noChangeAspect="1"/>
          </p:cNvPicPr>
          <p:nvPr/>
        </p:nvPicPr>
        <p:blipFill>
          <a:blip r:embed="rId18"/>
          <a:stretch>
            <a:fillRect/>
          </a:stretch>
        </p:blipFill>
        <p:spPr>
          <a:xfrm>
            <a:off x="10052914" y="4401922"/>
            <a:ext cx="395021" cy="395021"/>
          </a:xfrm>
          <a:prstGeom prst="rect">
            <a:avLst/>
          </a:prstGeom>
        </p:spPr>
      </p:pic>
      <p:sp>
        <p:nvSpPr>
          <p:cNvPr id="49" name="Text 39">
            <a:hlinkClick r:id="rId17" action="ppaction://hlinksldjump"/>
          </p:cNvPr>
          <p:cNvSpPr/>
          <p:nvPr/>
        </p:nvSpPr>
        <p:spPr>
          <a:xfrm>
            <a:off x="9025128" y="5166360"/>
            <a:ext cx="2450592" cy="502920"/>
          </a:xfrm>
          <a:prstGeom prst="rect">
            <a:avLst/>
          </a:prstGeom>
          <a:noFill/>
          <a:ln/>
        </p:spPr>
        <p:txBody>
          <a:bodyPr wrap="square" lIns="0" tIns="0" rIns="0" bIns="0" rtlCol="0" anchor="ctr"/>
          <a:lstStyle/>
          <a:p>
            <a:pPr marL="0" indent="0" algn="ctr">
              <a:buNone/>
            </a:pPr>
            <a:r>
              <a:rPr lang="en-US" sz="1350" b="1" u="sng" dirty="0">
                <a:solidFill>
                  <a:srgbClr val="FFFFFF"/>
                </a:solidFill>
                <a:latin typeface="Calibri" pitchFamily="34" charset="0"/>
                <a:ea typeface="Calibri" pitchFamily="34" charset="-122"/>
                <a:cs typeface="Calibri" pitchFamily="34" charset="-120"/>
                <a:hlinkClick r:id="rId17" action="ppaction://hlinksldjump">
                  <a:extLst>
                    <a:ext uri="{A12FA001-AC4F-418D-AE19-62706E023703}">
                      <ahyp:hlinkClr xmlns:ahyp="http://schemas.microsoft.com/office/drawing/2018/hyperlinkcolor" val="tx"/>
                    </a:ext>
                  </a:extLst>
                </a:hlinkClick>
              </a:rPr>
              <a:t>Roadmap &amp; Verdict</a:t>
            </a:r>
            <a:endParaRPr lang="en-US" sz="1350" dirty="0"/>
          </a:p>
        </p:txBody>
      </p:sp>
      <p:sp>
        <p:nvSpPr>
          <p:cNvPr id="50" name="Text 40">
            <a:hlinkClick r:id="rId17" action="ppaction://hlinksldjump"/>
          </p:cNvPr>
          <p:cNvSpPr/>
          <p:nvPr/>
        </p:nvSpPr>
        <p:spPr>
          <a:xfrm>
            <a:off x="9025128" y="5669280"/>
            <a:ext cx="2450592" cy="457200"/>
          </a:xfrm>
          <a:prstGeom prst="rect">
            <a:avLst/>
          </a:prstGeom>
          <a:noFill/>
          <a:ln/>
        </p:spPr>
        <p:txBody>
          <a:bodyPr wrap="square" lIns="0" tIns="0" rIns="0" bIns="0" rtlCol="0" anchor="ctr"/>
          <a:lstStyle/>
          <a:p>
            <a:pPr marL="0" indent="0" algn="ctr">
              <a:buNone/>
            </a:pPr>
            <a:r>
              <a:rPr lang="en-US" sz="1000" u="sng" dirty="0">
                <a:solidFill>
                  <a:srgbClr val="9BA8D1"/>
                </a:solidFill>
                <a:latin typeface="Calibri" pitchFamily="34" charset="0"/>
                <a:ea typeface="Calibri" pitchFamily="34" charset="-122"/>
                <a:cs typeface="Calibri" pitchFamily="34" charset="-120"/>
                <a:hlinkClick r:id="rId17" action="ppaction://hlinksldjump">
                  <a:extLst>
                    <a:ext uri="{A12FA001-AC4F-418D-AE19-62706E023703}">
                      <ahyp:hlinkClr xmlns:ahyp="http://schemas.microsoft.com/office/drawing/2018/hyperlinkcolor" val="tx"/>
                    </a:ext>
                  </a:extLst>
                </a:hlinkClick>
              </a:rPr>
              <a:t>Future enhancements</a:t>
            </a:r>
            <a:endParaRPr lang="en-US" sz="1000" dirty="0"/>
          </a:p>
        </p:txBody>
      </p:sp>
      <p:sp>
        <p:nvSpPr>
          <p:cNvPr id="51" name="Text 41"/>
          <p:cNvSpPr/>
          <p:nvPr/>
        </p:nvSpPr>
        <p:spPr>
          <a:xfrm>
            <a:off x="9025128" y="4023360"/>
            <a:ext cx="548640" cy="274320"/>
          </a:xfrm>
          <a:prstGeom prst="rect">
            <a:avLst/>
          </a:prstGeom>
          <a:noFill/>
          <a:ln/>
        </p:spPr>
        <p:txBody>
          <a:bodyPr wrap="square" lIns="0" tIns="0" rIns="0" bIns="0" rtlCol="0" anchor="ctr"/>
          <a:lstStyle/>
          <a:p>
            <a:pPr marL="0" indent="0">
              <a:buNone/>
            </a:pPr>
            <a:r>
              <a:rPr lang="en-US" sz="1000" b="1" dirty="0">
                <a:solidFill>
                  <a:srgbClr val="5A6699"/>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E05C2A"/>
                </a:solidFill>
                <a:latin typeface="Calibri" pitchFamily="34" charset="0"/>
                <a:ea typeface="Calibri" pitchFamily="34" charset="-122"/>
                <a:cs typeface="Calibri" pitchFamily="34" charset="-120"/>
              </a:rPr>
              <a:t>SECTION 01 · REVIEWED BY THEORIONGD</a:t>
            </a:r>
            <a:endParaRPr lang="en-US" sz="1200" dirty="0"/>
          </a:p>
        </p:txBody>
      </p:sp>
      <p:sp>
        <p:nvSpPr>
          <p:cNvPr id="3" name="Text 1"/>
          <p:cNvSpPr/>
          <p:nvPr/>
        </p:nvSpPr>
        <p:spPr>
          <a:xfrm>
            <a:off x="548640" y="640080"/>
            <a:ext cx="9601200" cy="64008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Overview &amp; Positioning</a:t>
            </a:r>
            <a:endParaRPr lang="en-US" sz="2800" dirty="0"/>
          </a:p>
        </p:txBody>
      </p:sp>
      <p:sp>
        <p:nvSpPr>
          <p:cNvPr id="4" name="Text 2"/>
          <p:cNvSpPr/>
          <p:nvPr/>
        </p:nvSpPr>
        <p:spPr>
          <a:xfrm>
            <a:off x="548640" y="1417320"/>
            <a:ext cx="10607040" cy="868680"/>
          </a:xfrm>
          <a:prstGeom prst="rect">
            <a:avLst/>
          </a:prstGeom>
          <a:noFill/>
          <a:ln/>
        </p:spPr>
        <p:txBody>
          <a:bodyPr wrap="square" lIns="0" tIns="0" rIns="0" bIns="0" rtlCol="0" anchor="ctr"/>
          <a:lstStyle/>
          <a:p>
            <a:pPr marL="0" indent="0">
              <a:lnSpc>
                <a:spcPct val="125000"/>
              </a:lnSpc>
              <a:buNone/>
            </a:pPr>
            <a:r>
              <a:rPr lang="en-US" sz="1350" dirty="0">
                <a:solidFill>
                  <a:srgbClr val="2C355C"/>
                </a:solidFill>
                <a:latin typeface="Calibri" pitchFamily="34" charset="0"/>
                <a:ea typeface="Calibri" pitchFamily="34" charset="-122"/>
                <a:cs typeface="Calibri" pitchFamily="34" charset="-120"/>
              </a:rPr>
              <a:t>Cadence allows organizations to create isolated workspaces where teams manage projects, assign tasks, collaborate in real time, and analyze productivity — enhanced with AI-assisted prioritization. It follows a multi-tenant SaaS architecture with strict workspace-level data isolation and end-to-end type safety.</a:t>
            </a:r>
            <a:endParaRPr lang="en-US" sz="1350" dirty="0"/>
          </a:p>
        </p:txBody>
      </p:sp>
      <p:sp>
        <p:nvSpPr>
          <p:cNvPr id="5" name="Shape 3"/>
          <p:cNvSpPr/>
          <p:nvPr/>
        </p:nvSpPr>
        <p:spPr>
          <a:xfrm>
            <a:off x="548640" y="2423160"/>
            <a:ext cx="10607040" cy="1188720"/>
          </a:xfrm>
          <a:prstGeom prst="roundRect">
            <a:avLst>
              <a:gd name="adj" fmla="val 7692"/>
            </a:avLst>
          </a:prstGeom>
          <a:solidFill>
            <a:srgbClr val="14213D"/>
          </a:solidFill>
          <a:ln/>
          <a:effectLst>
            <a:outerShdw blurRad="101600" dist="38100" dir="2700000" algn="bl" rotWithShape="0">
              <a:srgbClr val="000000">
                <a:alpha val="18000"/>
              </a:srgbClr>
            </a:outerShdw>
          </a:effectLst>
        </p:spPr>
      </p:sp>
      <p:sp>
        <p:nvSpPr>
          <p:cNvPr id="6" name="Text 4"/>
          <p:cNvSpPr/>
          <p:nvPr/>
        </p:nvSpPr>
        <p:spPr>
          <a:xfrm>
            <a:off x="822960" y="2578608"/>
            <a:ext cx="3657600" cy="274320"/>
          </a:xfrm>
          <a:prstGeom prst="rect">
            <a:avLst/>
          </a:prstGeom>
          <a:noFill/>
          <a:ln/>
        </p:spPr>
        <p:txBody>
          <a:bodyPr wrap="square" lIns="0" tIns="0" rIns="0" bIns="0" rtlCol="0" anchor="ctr"/>
          <a:lstStyle/>
          <a:p>
            <a:pPr marL="0" indent="0">
              <a:buNone/>
            </a:pPr>
            <a:r>
              <a:rPr lang="en-US" sz="1100" b="1" kern="0" spc="150" dirty="0">
                <a:solidFill>
                  <a:srgbClr val="A8C6FA"/>
                </a:solidFill>
                <a:latin typeface="Calibri" pitchFamily="34" charset="0"/>
                <a:ea typeface="Calibri" pitchFamily="34" charset="-122"/>
                <a:cs typeface="Calibri" pitchFamily="34" charset="-120"/>
              </a:rPr>
              <a:t>POSITIONING</a:t>
            </a:r>
            <a:endParaRPr lang="en-US" sz="1100" dirty="0"/>
          </a:p>
        </p:txBody>
      </p:sp>
      <p:sp>
        <p:nvSpPr>
          <p:cNvPr id="7" name="Text 5"/>
          <p:cNvSpPr/>
          <p:nvPr/>
        </p:nvSpPr>
        <p:spPr>
          <a:xfrm>
            <a:off x="822960" y="2852928"/>
            <a:ext cx="10058400" cy="685800"/>
          </a:xfrm>
          <a:prstGeom prst="rect">
            <a:avLst/>
          </a:prstGeom>
          <a:noFill/>
          <a:ln/>
        </p:spPr>
        <p:txBody>
          <a:bodyPr wrap="square" lIns="0" tIns="0" rIns="0" bIns="0" rtlCol="0" anchor="ctr"/>
          <a:lstStyle/>
          <a:p>
            <a:pPr marL="0" indent="0">
              <a:lnSpc>
                <a:spcPct val="120000"/>
              </a:lnSpc>
              <a:buNone/>
            </a:pPr>
            <a:r>
              <a:rPr lang="en-US" sz="1450" i="1" dirty="0">
                <a:solidFill>
                  <a:srgbClr val="FFFFFF"/>
                </a:solidFill>
                <a:latin typeface="Cambria" pitchFamily="34" charset="0"/>
                <a:ea typeface="Cambria" pitchFamily="34" charset="-122"/>
                <a:cs typeface="Cambria" pitchFamily="34" charset="-120"/>
              </a:rPr>
              <a:t>Cadence is an Autonomous Work Orchestration Platform that continuously distributes, optimizes, predicts, and coordinates human work across teams with minimal managerial intervention.</a:t>
            </a:r>
            <a:endParaRPr lang="en-US" sz="1450" dirty="0"/>
          </a:p>
        </p:txBody>
      </p:sp>
      <p:sp>
        <p:nvSpPr>
          <p:cNvPr id="8" name="Shape 6"/>
          <p:cNvSpPr/>
          <p:nvPr/>
        </p:nvSpPr>
        <p:spPr>
          <a:xfrm>
            <a:off x="548640" y="3886200"/>
            <a:ext cx="516636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9" name="Text 7"/>
          <p:cNvSpPr/>
          <p:nvPr/>
        </p:nvSpPr>
        <p:spPr>
          <a:xfrm>
            <a:off x="777240" y="4050792"/>
            <a:ext cx="4709160" cy="365760"/>
          </a:xfrm>
          <a:prstGeom prst="rect">
            <a:avLst/>
          </a:prstGeom>
          <a:noFill/>
          <a:ln/>
        </p:spPr>
        <p:txBody>
          <a:bodyPr wrap="square" lIns="0" tIns="0" rIns="0" bIns="0" rtlCol="0" anchor="ctr"/>
          <a:lstStyle/>
          <a:p>
            <a:pPr marL="0" indent="0">
              <a:buNone/>
            </a:pPr>
            <a:r>
              <a:rPr lang="en-US" sz="1150" b="1" dirty="0">
                <a:solidFill>
                  <a:srgbClr val="5C6B8A"/>
                </a:solidFill>
                <a:latin typeface="Calibri" pitchFamily="34" charset="0"/>
                <a:ea typeface="Calibri" pitchFamily="34" charset="-122"/>
                <a:cs typeface="Calibri" pitchFamily="34" charset="-120"/>
              </a:rPr>
              <a:t>TRADITIONAL TOOLS (Asana, Monday.com)</a:t>
            </a:r>
            <a:endParaRPr lang="en-US" sz="1150" dirty="0"/>
          </a:p>
        </p:txBody>
      </p:sp>
      <p:sp>
        <p:nvSpPr>
          <p:cNvPr id="10" name="Text 8"/>
          <p:cNvSpPr/>
          <p:nvPr/>
        </p:nvSpPr>
        <p:spPr>
          <a:xfrm>
            <a:off x="777240" y="4453128"/>
            <a:ext cx="4709160" cy="1188720"/>
          </a:xfrm>
          <a:prstGeom prst="rect">
            <a:avLst/>
          </a:prstGeom>
          <a:noFill/>
          <a:ln/>
        </p:spPr>
        <p:txBody>
          <a:bodyPr wrap="square" lIns="0" tIns="0" rIns="0" bIns="0" rtlCol="0" anchor="ctr"/>
          <a:lstStyle/>
          <a:p>
            <a:pPr marL="0" indent="0">
              <a:lnSpc>
                <a:spcPct val="125000"/>
              </a:lnSpc>
              <a:buNone/>
            </a:pPr>
            <a:r>
              <a:rPr lang="en-US" sz="1200" dirty="0">
                <a:solidFill>
                  <a:srgbClr val="5C6B8A"/>
                </a:solidFill>
                <a:latin typeface="Calibri" pitchFamily="34" charset="0"/>
                <a:ea typeface="Calibri" pitchFamily="34" charset="-122"/>
                <a:cs typeface="Calibri" pitchFamily="34" charset="-120"/>
              </a:rPr>
              <a:t>Help teams manage tasks: assign once, track status manually, rely on a human to notice problems and redistribute work.</a:t>
            </a:r>
            <a:endParaRPr lang="en-US" sz="1200" dirty="0"/>
          </a:p>
        </p:txBody>
      </p:sp>
      <p:sp>
        <p:nvSpPr>
          <p:cNvPr id="11" name="Shape 9"/>
          <p:cNvSpPr/>
          <p:nvPr/>
        </p:nvSpPr>
        <p:spPr>
          <a:xfrm>
            <a:off x="5897880" y="3886200"/>
            <a:ext cx="5257800" cy="1965960"/>
          </a:xfrm>
          <a:prstGeom prst="roundRect">
            <a:avLst>
              <a:gd name="adj" fmla="val 4186"/>
            </a:avLst>
          </a:prstGeom>
          <a:solidFill>
            <a:srgbClr val="FDEEE7"/>
          </a:solidFill>
          <a:ln w="15875">
            <a:solidFill>
              <a:srgbClr val="E05C2A"/>
            </a:solidFill>
            <a:prstDash val="solid"/>
          </a:ln>
          <a:effectLst>
            <a:outerShdw blurRad="76200" dist="25400" dir="2700000" algn="bl" rotWithShape="0">
              <a:srgbClr val="000000">
                <a:alpha val="10000"/>
              </a:srgbClr>
            </a:outerShdw>
          </a:effectLst>
        </p:spPr>
      </p:sp>
      <p:sp>
        <p:nvSpPr>
          <p:cNvPr id="12" name="Text 10"/>
          <p:cNvSpPr/>
          <p:nvPr/>
        </p:nvSpPr>
        <p:spPr>
          <a:xfrm>
            <a:off x="6126480" y="4050792"/>
            <a:ext cx="4800600" cy="365760"/>
          </a:xfrm>
          <a:prstGeom prst="rect">
            <a:avLst/>
          </a:prstGeom>
          <a:noFill/>
          <a:ln/>
        </p:spPr>
        <p:txBody>
          <a:bodyPr wrap="square" lIns="0" tIns="0" rIns="0" bIns="0" rtlCol="0" anchor="ctr"/>
          <a:lstStyle/>
          <a:p>
            <a:pPr marL="0" indent="0">
              <a:buNone/>
            </a:pPr>
            <a:r>
              <a:rPr lang="en-US" sz="1150" b="1" dirty="0">
                <a:solidFill>
                  <a:srgbClr val="E05C2A"/>
                </a:solidFill>
                <a:latin typeface="Calibri" pitchFamily="34" charset="0"/>
                <a:ea typeface="Calibri" pitchFamily="34" charset="-122"/>
                <a:cs typeface="Calibri" pitchFamily="34" charset="-120"/>
              </a:rPr>
              <a:t>CADENCE</a:t>
            </a:r>
            <a:endParaRPr lang="en-US" sz="1150" dirty="0"/>
          </a:p>
        </p:txBody>
      </p:sp>
      <p:sp>
        <p:nvSpPr>
          <p:cNvPr id="13" name="Text 11"/>
          <p:cNvSpPr/>
          <p:nvPr/>
        </p:nvSpPr>
        <p:spPr>
          <a:xfrm>
            <a:off x="6126480" y="4453128"/>
            <a:ext cx="4800600" cy="1188720"/>
          </a:xfrm>
          <a:prstGeom prst="rect">
            <a:avLst/>
          </a:prstGeom>
          <a:noFill/>
          <a:ln/>
        </p:spPr>
        <p:txBody>
          <a:bodyPr wrap="square" lIns="0" tIns="0" rIns="0" bIns="0" rtlCol="0" anchor="ctr"/>
          <a:lstStyle/>
          <a:p>
            <a:pPr marL="0" indent="0">
              <a:lnSpc>
                <a:spcPct val="125000"/>
              </a:lnSpc>
              <a:buNone/>
            </a:pPr>
            <a:r>
              <a:rPr lang="en-US" sz="1200" dirty="0">
                <a:solidFill>
                  <a:srgbClr val="2C355C"/>
                </a:solidFill>
                <a:latin typeface="Calibri" pitchFamily="34" charset="0"/>
                <a:ea typeface="Calibri" pitchFamily="34" charset="-122"/>
                <a:cs typeface="Calibri" pitchFamily="34" charset="-120"/>
              </a:rPr>
              <a:t>Executes operational work autonomously: keeps watching, reallocating, predicting completion, and explaining its own decisions for as long as the project runs.</a:t>
            </a:r>
            <a:endParaRPr lang="en-US" sz="1200" dirty="0"/>
          </a:p>
        </p:txBody>
      </p:sp>
      <p:sp>
        <p:nvSpPr>
          <p:cNvPr id="14" name="Text 12"/>
          <p:cNvSpPr/>
          <p:nvPr/>
        </p:nvSpPr>
        <p:spPr>
          <a:xfrm>
            <a:off x="548640" y="5989320"/>
            <a:ext cx="10607040" cy="365760"/>
          </a:xfrm>
          <a:prstGeom prst="rect">
            <a:avLst/>
          </a:prstGeom>
          <a:noFill/>
          <a:ln/>
        </p:spPr>
        <p:txBody>
          <a:bodyPr wrap="square" lIns="0" tIns="0" rIns="0" bIns="0" rtlCol="0" anchor="ctr"/>
          <a:lstStyle/>
          <a:p>
            <a:pPr marL="0" indent="0">
              <a:buNone/>
            </a:pPr>
            <a:r>
              <a:rPr lang="en-US" sz="1100" i="1" dirty="0">
                <a:solidFill>
                  <a:srgbClr val="E05C2A"/>
                </a:solidFill>
                <a:latin typeface="Calibri" pitchFamily="34" charset="0"/>
                <a:ea typeface="Calibri" pitchFamily="34" charset="-122"/>
                <a:cs typeface="Calibri" pitchFamily="34" charset="-120"/>
              </a:rPr>
              <a:t>Leader's read: the positioning claim ("orchestration vs. tracking") is specific and falsifiable — not generic marketing language — which is a positive feasibility signal.</a:t>
            </a:r>
            <a:endParaRPr lang="en-US" sz="1100" dirty="0"/>
          </a:p>
        </p:txBody>
      </p:sp>
      <p:pic>
        <p:nvPicPr>
          <p:cNvPr id="15" name="Image 0" descr="./icons/arrow_left_white.png">
            <a:hlinkClick r:id="rId3" action="ppaction://hlinksldjump"/>
          </p:cNvPr>
          <p:cNvPicPr>
            <a:picLocks noChangeAspect="1"/>
          </p:cNvPicPr>
          <p:nvPr/>
        </p:nvPicPr>
        <p:blipFill>
          <a:blip r:embed="rId4"/>
          <a:stretch>
            <a:fillRect/>
          </a:stretch>
        </p:blipFill>
        <p:spPr>
          <a:xfrm>
            <a:off x="548640" y="6382512"/>
            <a:ext cx="201168" cy="201168"/>
          </a:xfrm>
          <a:prstGeom prst="rect">
            <a:avLst/>
          </a:prstGeom>
        </p:spPr>
      </p:pic>
      <p:sp>
        <p:nvSpPr>
          <p:cNvPr id="16" name="Shape 13">
            <a:hlinkClick r:id="rId3" action="ppaction://hlinksldjump"/>
          </p:cNvPr>
          <p:cNvSpPr/>
          <p:nvPr/>
        </p:nvSpPr>
        <p:spPr>
          <a:xfrm>
            <a:off x="548640" y="6355080"/>
            <a:ext cx="2377440" cy="365760"/>
          </a:xfrm>
          <a:prstGeom prst="rect">
            <a:avLst/>
          </a:prstGeom>
          <a:solidFill>
            <a:srgbClr val="14213D">
              <a:alpha val="0"/>
            </a:srgbClr>
          </a:solidFill>
          <a:ln/>
        </p:spPr>
      </p:sp>
      <p:sp>
        <p:nvSpPr>
          <p:cNvPr id="17" name="Text 14">
            <a:hlinkClick r:id="rId3" action="ppaction://hlinksldjump"/>
          </p:cNvPr>
          <p:cNvSpPr/>
          <p:nvPr/>
        </p:nvSpPr>
        <p:spPr>
          <a:xfrm>
            <a:off x="841248" y="6355080"/>
            <a:ext cx="2377440" cy="365760"/>
          </a:xfrm>
          <a:prstGeom prst="rect">
            <a:avLst/>
          </a:prstGeom>
          <a:noFill/>
          <a:ln/>
        </p:spPr>
        <p:txBody>
          <a:bodyPr wrap="square" lIns="0" tIns="0" rIns="0" bIns="0" rtlCol="0" anchor="ctr"/>
          <a:lstStyle/>
          <a:p>
            <a:pPr marL="0" indent="0">
              <a:buNone/>
            </a:pPr>
            <a:r>
              <a:rPr lang="en-US" sz="1100" b="1" u="sng" dirty="0">
                <a:solidFill>
                  <a:srgbClr val="14213D"/>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 TO REVIEW BOARD</a:t>
            </a:r>
            <a:endParaRPr lang="en-US" sz="1100" dirty="0"/>
          </a:p>
        </p:txBody>
      </p:sp>
      <p:sp>
        <p:nvSpPr>
          <p:cNvPr id="18" name="Text 15"/>
          <p:cNvSpPr/>
          <p:nvPr/>
        </p:nvSpPr>
        <p:spPr>
          <a:xfrm>
            <a:off x="8595360" y="6382512"/>
            <a:ext cx="3017520" cy="274320"/>
          </a:xfrm>
          <a:prstGeom prst="rect">
            <a:avLst/>
          </a:prstGeom>
          <a:noFill/>
          <a:ln/>
        </p:spPr>
        <p:txBody>
          <a:bodyPr wrap="square" lIns="0" tIns="0" rIns="0" bIns="0" rtlCol="0" anchor="ctr"/>
          <a:lstStyle/>
          <a:p>
            <a:pPr marL="0" indent="0" algn="r">
              <a:buNone/>
            </a:pPr>
            <a:r>
              <a:rPr lang="en-US" sz="1000" dirty="0">
                <a:solidFill>
                  <a:srgbClr val="A6B0C8"/>
                </a:solidFill>
                <a:latin typeface="Calibri" pitchFamily="34" charset="0"/>
                <a:ea typeface="Calibri" pitchFamily="34" charset="-122"/>
                <a:cs typeface="Calibri" pitchFamily="34" charset="-120"/>
              </a:rPr>
              <a:t>Cadence Review · Overview</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E05C2A"/>
                </a:solidFill>
                <a:latin typeface="Calibri" pitchFamily="34" charset="0"/>
                <a:ea typeface="Calibri" pitchFamily="34" charset="-122"/>
                <a:cs typeface="Calibri" pitchFamily="34" charset="-120"/>
              </a:rPr>
              <a:t>SECTION 02 · REVIEWED BY THEORIONGD</a:t>
            </a:r>
            <a:endParaRPr lang="en-US" sz="1200" dirty="0"/>
          </a:p>
        </p:txBody>
      </p:sp>
      <p:sp>
        <p:nvSpPr>
          <p:cNvPr id="3" name="Text 1"/>
          <p:cNvSpPr/>
          <p:nvPr/>
        </p:nvSpPr>
        <p:spPr>
          <a:xfrm>
            <a:off x="548640" y="640080"/>
            <a:ext cx="9601200" cy="64008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Core Features</a:t>
            </a:r>
            <a:endParaRPr lang="en-US" sz="2800" dirty="0"/>
          </a:p>
        </p:txBody>
      </p:sp>
      <p:sp>
        <p:nvSpPr>
          <p:cNvPr id="4" name="Text 2"/>
          <p:cNvSpPr/>
          <p:nvPr/>
        </p:nvSpPr>
        <p:spPr>
          <a:xfrm>
            <a:off x="548640" y="1371600"/>
            <a:ext cx="10607040" cy="320040"/>
          </a:xfrm>
          <a:prstGeom prst="rect">
            <a:avLst/>
          </a:prstGeom>
          <a:noFill/>
          <a:ln/>
        </p:spPr>
        <p:txBody>
          <a:bodyPr wrap="square" lIns="0" tIns="0" rIns="0" bIns="0" rtlCol="0" anchor="ctr"/>
          <a:lstStyle/>
          <a:p>
            <a:pPr marL="0" indent="0">
              <a:buNone/>
            </a:pPr>
            <a:r>
              <a:rPr lang="en-US" sz="1250" dirty="0">
                <a:solidFill>
                  <a:srgbClr val="2C355C"/>
                </a:solidFill>
                <a:latin typeface="Calibri" pitchFamily="34" charset="0"/>
                <a:ea typeface="Calibri" pitchFamily="34" charset="-122"/>
                <a:cs typeface="Calibri" pitchFamily="34" charset="-120"/>
              </a:rPr>
              <a:t>A broad platform feature set spanning collaboration, AI assistance, and agency-grade operations.</a:t>
            </a:r>
            <a:endParaRPr lang="en-US" sz="1250" dirty="0"/>
          </a:p>
        </p:txBody>
      </p:sp>
      <p:sp>
        <p:nvSpPr>
          <p:cNvPr id="5" name="Shape 3"/>
          <p:cNvSpPr/>
          <p:nvPr/>
        </p:nvSpPr>
        <p:spPr>
          <a:xfrm>
            <a:off x="548640" y="1828800"/>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6" name="Shape 4"/>
          <p:cNvSpPr/>
          <p:nvPr/>
        </p:nvSpPr>
        <p:spPr>
          <a:xfrm>
            <a:off x="713232" y="1993392"/>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7" name="Image 0" descr="./icons/users_dark.png"/>
          <p:cNvPicPr>
            <a:picLocks noChangeAspect="1"/>
          </p:cNvPicPr>
          <p:nvPr/>
        </p:nvPicPr>
        <p:blipFill>
          <a:blip r:embed="rId3"/>
          <a:stretch>
            <a:fillRect/>
          </a:stretch>
        </p:blipFill>
        <p:spPr>
          <a:xfrm>
            <a:off x="843991" y="2124151"/>
            <a:ext cx="241402" cy="241402"/>
          </a:xfrm>
          <a:prstGeom prst="rect">
            <a:avLst/>
          </a:prstGeom>
        </p:spPr>
      </p:pic>
      <p:sp>
        <p:nvSpPr>
          <p:cNvPr id="8" name="Text 5"/>
          <p:cNvSpPr/>
          <p:nvPr/>
        </p:nvSpPr>
        <p:spPr>
          <a:xfrm>
            <a:off x="1325880" y="1975104"/>
            <a:ext cx="2697480" cy="502920"/>
          </a:xfrm>
          <a:prstGeom prst="rect">
            <a:avLst/>
          </a:prstGeom>
          <a:noFill/>
          <a:ln/>
        </p:spPr>
        <p:txBody>
          <a:bodyPr wrap="square" lIns="0" tIns="0" rIns="0" bIns="0" rtlCol="0" anchor="t"/>
          <a:lstStyle/>
          <a:p>
            <a:pPr marL="0" indent="0">
              <a:buNone/>
            </a:pPr>
            <a:r>
              <a:rPr lang="en-US" b="1" dirty="0">
                <a:solidFill>
                  <a:srgbClr val="14213D"/>
                </a:solidFill>
                <a:latin typeface="Calibri" pitchFamily="34" charset="0"/>
                <a:ea typeface="Calibri" pitchFamily="34" charset="-122"/>
                <a:cs typeface="Calibri" pitchFamily="34" charset="-120"/>
              </a:rPr>
              <a:t>Collaboration Core</a:t>
            </a:r>
            <a:endParaRPr lang="en-US" dirty="0"/>
          </a:p>
        </p:txBody>
      </p:sp>
      <p:sp>
        <p:nvSpPr>
          <p:cNvPr id="9" name="Text 6"/>
          <p:cNvSpPr/>
          <p:nvPr/>
        </p:nvSpPr>
        <p:spPr>
          <a:xfrm>
            <a:off x="731520" y="2578608"/>
            <a:ext cx="3246120" cy="1097280"/>
          </a:xfrm>
          <a:prstGeom prst="rect">
            <a:avLst/>
          </a:prstGeom>
          <a:noFill/>
          <a:ln/>
        </p:spPr>
        <p:txBody>
          <a:bodyPr wrap="square" lIns="0" tIns="0" rIns="0" bIns="0" rtlCol="0" anchor="ctr"/>
          <a:lstStyle/>
          <a:p>
            <a:pPr marL="0" indent="0">
              <a:lnSpc>
                <a:spcPct val="118000"/>
              </a:lnSpc>
              <a:buNone/>
            </a:pPr>
            <a:r>
              <a:rPr lang="en-US" sz="950" dirty="0">
                <a:solidFill>
                  <a:srgbClr val="5C6B8A"/>
                </a:solidFill>
                <a:latin typeface="Calibri" pitchFamily="34" charset="0"/>
                <a:ea typeface="Calibri" pitchFamily="34" charset="-122"/>
                <a:cs typeface="Calibri" pitchFamily="34" charset="-120"/>
              </a:rPr>
              <a:t>Auth via Clerk/Auth.js (passkeys, SSO), multi-tenant workspaces with row-level security, RBAC, real-time activity logs, Kanban/List/Calendar views, Gantt timelines.</a:t>
            </a:r>
            <a:endParaRPr lang="en-US" sz="950" dirty="0"/>
          </a:p>
        </p:txBody>
      </p:sp>
      <p:sp>
        <p:nvSpPr>
          <p:cNvPr id="10" name="Shape 7"/>
          <p:cNvSpPr/>
          <p:nvPr/>
        </p:nvSpPr>
        <p:spPr>
          <a:xfrm>
            <a:off x="4325112" y="1828800"/>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11" name="Shape 8"/>
          <p:cNvSpPr/>
          <p:nvPr/>
        </p:nvSpPr>
        <p:spPr>
          <a:xfrm>
            <a:off x="4489704" y="1993392"/>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12" name="Image 1" descr="./icons/brain_dark.png"/>
          <p:cNvPicPr>
            <a:picLocks noChangeAspect="1"/>
          </p:cNvPicPr>
          <p:nvPr/>
        </p:nvPicPr>
        <p:blipFill>
          <a:blip r:embed="rId4"/>
          <a:stretch>
            <a:fillRect/>
          </a:stretch>
        </p:blipFill>
        <p:spPr>
          <a:xfrm>
            <a:off x="4620463" y="2124151"/>
            <a:ext cx="241402" cy="241402"/>
          </a:xfrm>
          <a:prstGeom prst="rect">
            <a:avLst/>
          </a:prstGeom>
        </p:spPr>
      </p:pic>
      <p:sp>
        <p:nvSpPr>
          <p:cNvPr id="13" name="Text 9"/>
          <p:cNvSpPr/>
          <p:nvPr/>
        </p:nvSpPr>
        <p:spPr>
          <a:xfrm>
            <a:off x="5102352" y="1975104"/>
            <a:ext cx="2697480" cy="502920"/>
          </a:xfrm>
          <a:prstGeom prst="rect">
            <a:avLst/>
          </a:prstGeom>
          <a:noFill/>
          <a:ln/>
        </p:spPr>
        <p:txBody>
          <a:bodyPr wrap="square" lIns="0" tIns="0" rIns="0" bIns="0" rtlCol="0" anchor="t"/>
          <a:lstStyle/>
          <a:p>
            <a:pPr marL="0" indent="0">
              <a:buNone/>
            </a:pPr>
            <a:r>
              <a:rPr lang="en-US" b="1" dirty="0">
                <a:solidFill>
                  <a:srgbClr val="14213D"/>
                </a:solidFill>
                <a:latin typeface="Calibri" pitchFamily="34" charset="0"/>
                <a:ea typeface="Calibri" pitchFamily="34" charset="-122"/>
                <a:cs typeface="Calibri" pitchFamily="34" charset="-120"/>
              </a:rPr>
              <a:t>AI-Powered</a:t>
            </a:r>
            <a:endParaRPr lang="en-US" dirty="0"/>
          </a:p>
        </p:txBody>
      </p:sp>
      <p:sp>
        <p:nvSpPr>
          <p:cNvPr id="14" name="Text 10"/>
          <p:cNvSpPr/>
          <p:nvPr/>
        </p:nvSpPr>
        <p:spPr>
          <a:xfrm>
            <a:off x="4507992" y="2578608"/>
            <a:ext cx="3246120" cy="1097280"/>
          </a:xfrm>
          <a:prstGeom prst="rect">
            <a:avLst/>
          </a:prstGeom>
          <a:noFill/>
          <a:ln/>
        </p:spPr>
        <p:txBody>
          <a:bodyPr wrap="square" lIns="0" tIns="0" rIns="0" bIns="0" rtlCol="0" anchor="ctr"/>
          <a:lstStyle/>
          <a:p>
            <a:pPr marL="0" indent="0">
              <a:lnSpc>
                <a:spcPct val="118000"/>
              </a:lnSpc>
              <a:buNone/>
            </a:pPr>
            <a:r>
              <a:rPr lang="en-US" sz="950" dirty="0">
                <a:solidFill>
                  <a:srgbClr val="5C6B8A"/>
                </a:solidFill>
                <a:latin typeface="Calibri" pitchFamily="34" charset="0"/>
                <a:ea typeface="Calibri" pitchFamily="34" charset="-122"/>
                <a:cs typeface="Calibri" pitchFamily="34" charset="-120"/>
              </a:rPr>
              <a:t>Task prioritization, summarization, and insights; Skill-Based Auto Task Assignment for CSV/Excel work; Agentic AI workflows via Google ADK for triage and reassignment.</a:t>
            </a:r>
            <a:endParaRPr lang="en-US" sz="950" dirty="0"/>
          </a:p>
        </p:txBody>
      </p:sp>
      <p:sp>
        <p:nvSpPr>
          <p:cNvPr id="15" name="Shape 11"/>
          <p:cNvSpPr/>
          <p:nvPr/>
        </p:nvSpPr>
        <p:spPr>
          <a:xfrm>
            <a:off x="8101584" y="1828800"/>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16" name="Shape 12"/>
          <p:cNvSpPr/>
          <p:nvPr/>
        </p:nvSpPr>
        <p:spPr>
          <a:xfrm>
            <a:off x="8266176" y="1993392"/>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17" name="Image 2" descr="./icons/building_dark.png"/>
          <p:cNvPicPr>
            <a:picLocks noChangeAspect="1"/>
          </p:cNvPicPr>
          <p:nvPr/>
        </p:nvPicPr>
        <p:blipFill>
          <a:blip r:embed="rId5"/>
          <a:stretch>
            <a:fillRect/>
          </a:stretch>
        </p:blipFill>
        <p:spPr>
          <a:xfrm>
            <a:off x="8396935" y="2124151"/>
            <a:ext cx="241402" cy="241402"/>
          </a:xfrm>
          <a:prstGeom prst="rect">
            <a:avLst/>
          </a:prstGeom>
        </p:spPr>
      </p:pic>
      <p:sp>
        <p:nvSpPr>
          <p:cNvPr id="18" name="Text 13"/>
          <p:cNvSpPr/>
          <p:nvPr/>
        </p:nvSpPr>
        <p:spPr>
          <a:xfrm>
            <a:off x="8878824" y="1975104"/>
            <a:ext cx="2697480" cy="502920"/>
          </a:xfrm>
          <a:prstGeom prst="rect">
            <a:avLst/>
          </a:prstGeom>
          <a:noFill/>
          <a:ln/>
        </p:spPr>
        <p:txBody>
          <a:bodyPr wrap="square" lIns="0" tIns="0" rIns="0" bIns="0" rtlCol="0" anchor="t"/>
          <a:lstStyle/>
          <a:p>
            <a:pPr marL="0" indent="0">
              <a:buNone/>
            </a:pPr>
            <a:r>
              <a:rPr lang="en-US" b="1" dirty="0">
                <a:solidFill>
                  <a:srgbClr val="14213D"/>
                </a:solidFill>
                <a:latin typeface="Calibri" pitchFamily="34" charset="0"/>
                <a:ea typeface="Calibri" pitchFamily="34" charset="-122"/>
                <a:cs typeface="Calibri" pitchFamily="34" charset="-120"/>
              </a:rPr>
              <a:t>Agency-Grade</a:t>
            </a:r>
            <a:endParaRPr lang="en-US" dirty="0"/>
          </a:p>
        </p:txBody>
      </p:sp>
      <p:sp>
        <p:nvSpPr>
          <p:cNvPr id="19" name="Text 14"/>
          <p:cNvSpPr/>
          <p:nvPr/>
        </p:nvSpPr>
        <p:spPr>
          <a:xfrm>
            <a:off x="8284464" y="2578608"/>
            <a:ext cx="3246120" cy="1097280"/>
          </a:xfrm>
          <a:prstGeom prst="rect">
            <a:avLst/>
          </a:prstGeom>
          <a:noFill/>
          <a:ln/>
        </p:spPr>
        <p:txBody>
          <a:bodyPr wrap="square" lIns="0" tIns="0" rIns="0" bIns="0" rtlCol="0" anchor="ctr"/>
          <a:lstStyle/>
          <a:p>
            <a:pPr marL="0" indent="0">
              <a:lnSpc>
                <a:spcPct val="118000"/>
              </a:lnSpc>
              <a:buNone/>
            </a:pPr>
            <a:r>
              <a:rPr lang="en-US" sz="950" dirty="0">
                <a:solidFill>
                  <a:srgbClr val="5C6B8A"/>
                </a:solidFill>
                <a:latin typeface="Calibri" pitchFamily="34" charset="0"/>
                <a:ea typeface="Calibri" pitchFamily="34" charset="-122"/>
                <a:cs typeface="Calibri" pitchFamily="34" charset="-120"/>
              </a:rPr>
              <a:t>Agency Portfolio Mode for cross-workspace management; white-label branding; approval workflows; guest/client share links with expiry.</a:t>
            </a:r>
            <a:endParaRPr lang="en-US" sz="950" dirty="0"/>
          </a:p>
        </p:txBody>
      </p:sp>
      <p:sp>
        <p:nvSpPr>
          <p:cNvPr id="20" name="Shape 15"/>
          <p:cNvSpPr/>
          <p:nvPr/>
        </p:nvSpPr>
        <p:spPr>
          <a:xfrm>
            <a:off x="548640" y="3959352"/>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21" name="Shape 16"/>
          <p:cNvSpPr/>
          <p:nvPr/>
        </p:nvSpPr>
        <p:spPr>
          <a:xfrm>
            <a:off x="713232" y="4123944"/>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22" name="Image 3" descr="./icons/puzzle_dark.png"/>
          <p:cNvPicPr>
            <a:picLocks noChangeAspect="1"/>
          </p:cNvPicPr>
          <p:nvPr/>
        </p:nvPicPr>
        <p:blipFill>
          <a:blip r:embed="rId6"/>
          <a:stretch>
            <a:fillRect/>
          </a:stretch>
        </p:blipFill>
        <p:spPr>
          <a:xfrm>
            <a:off x="843991" y="4254703"/>
            <a:ext cx="241402" cy="241402"/>
          </a:xfrm>
          <a:prstGeom prst="rect">
            <a:avLst/>
          </a:prstGeom>
        </p:spPr>
      </p:pic>
      <p:sp>
        <p:nvSpPr>
          <p:cNvPr id="23" name="Text 17"/>
          <p:cNvSpPr/>
          <p:nvPr/>
        </p:nvSpPr>
        <p:spPr>
          <a:xfrm>
            <a:off x="1325880" y="4105656"/>
            <a:ext cx="2697480" cy="502920"/>
          </a:xfrm>
          <a:prstGeom prst="rect">
            <a:avLst/>
          </a:prstGeom>
          <a:noFill/>
          <a:ln/>
        </p:spPr>
        <p:txBody>
          <a:bodyPr wrap="square" lIns="0" tIns="0" rIns="0" bIns="0" rtlCol="0" anchor="t"/>
          <a:lstStyle/>
          <a:p>
            <a:pPr marL="0" indent="0">
              <a:buNone/>
            </a:pPr>
            <a:r>
              <a:rPr lang="en-US" b="1" dirty="0">
                <a:solidFill>
                  <a:srgbClr val="14213D"/>
                </a:solidFill>
                <a:latin typeface="Calibri" pitchFamily="34" charset="0"/>
                <a:ea typeface="Calibri" pitchFamily="34" charset="-122"/>
                <a:cs typeface="Calibri" pitchFamily="34" charset="-120"/>
              </a:rPr>
              <a:t>Integrations &amp; Ops</a:t>
            </a:r>
            <a:endParaRPr lang="en-US" dirty="0"/>
          </a:p>
        </p:txBody>
      </p:sp>
      <p:sp>
        <p:nvSpPr>
          <p:cNvPr id="24" name="Text 18"/>
          <p:cNvSpPr/>
          <p:nvPr/>
        </p:nvSpPr>
        <p:spPr>
          <a:xfrm>
            <a:off x="731520" y="4709160"/>
            <a:ext cx="3246120" cy="1097280"/>
          </a:xfrm>
          <a:prstGeom prst="rect">
            <a:avLst/>
          </a:prstGeom>
          <a:noFill/>
          <a:ln/>
        </p:spPr>
        <p:txBody>
          <a:bodyPr wrap="square" lIns="0" tIns="0" rIns="0" bIns="0" rtlCol="0" anchor="ctr"/>
          <a:lstStyle/>
          <a:p>
            <a:pPr marL="0" indent="0">
              <a:lnSpc>
                <a:spcPct val="118000"/>
              </a:lnSpc>
              <a:buNone/>
            </a:pPr>
            <a:r>
              <a:rPr lang="en-US" sz="950" dirty="0">
                <a:solidFill>
                  <a:srgbClr val="5C6B8A"/>
                </a:solidFill>
                <a:latin typeface="Calibri" pitchFamily="34" charset="0"/>
                <a:ea typeface="Calibri" pitchFamily="34" charset="-122"/>
                <a:cs typeface="Calibri" pitchFamily="34" charset="-120"/>
              </a:rPr>
              <a:t>Slack, MS Teams, Google Drive, Jira, GitHub marketplace; Stripe billing; audit log with GDPR/CCPA export; mobile-responsive offline-capable PWA.</a:t>
            </a:r>
            <a:endParaRPr lang="en-US" sz="950" dirty="0"/>
          </a:p>
        </p:txBody>
      </p:sp>
      <p:sp>
        <p:nvSpPr>
          <p:cNvPr id="25" name="Shape 19"/>
          <p:cNvSpPr/>
          <p:nvPr/>
        </p:nvSpPr>
        <p:spPr>
          <a:xfrm>
            <a:off x="4325112" y="3959352"/>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26" name="Shape 20"/>
          <p:cNvSpPr/>
          <p:nvPr/>
        </p:nvSpPr>
        <p:spPr>
          <a:xfrm>
            <a:off x="4489704" y="4123944"/>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27" name="Image 4" descr="./icons/terminal_dark.png"/>
          <p:cNvPicPr>
            <a:picLocks noChangeAspect="1"/>
          </p:cNvPicPr>
          <p:nvPr/>
        </p:nvPicPr>
        <p:blipFill>
          <a:blip r:embed="rId7"/>
          <a:stretch>
            <a:fillRect/>
          </a:stretch>
        </p:blipFill>
        <p:spPr>
          <a:xfrm>
            <a:off x="4620463" y="4254703"/>
            <a:ext cx="241402" cy="241402"/>
          </a:xfrm>
          <a:prstGeom prst="rect">
            <a:avLst/>
          </a:prstGeom>
        </p:spPr>
      </p:pic>
      <p:sp>
        <p:nvSpPr>
          <p:cNvPr id="28" name="Text 21"/>
          <p:cNvSpPr/>
          <p:nvPr/>
        </p:nvSpPr>
        <p:spPr>
          <a:xfrm>
            <a:off x="5102352" y="4105656"/>
            <a:ext cx="2697480" cy="502920"/>
          </a:xfrm>
          <a:prstGeom prst="rect">
            <a:avLst/>
          </a:prstGeom>
          <a:noFill/>
          <a:ln/>
        </p:spPr>
        <p:txBody>
          <a:bodyPr wrap="square" lIns="0" tIns="0" rIns="0" bIns="0" rtlCol="0" anchor="t"/>
          <a:lstStyle/>
          <a:p>
            <a:pPr marL="0" indent="0">
              <a:buNone/>
            </a:pPr>
            <a:r>
              <a:rPr lang="en-US" b="1" dirty="0">
                <a:solidFill>
                  <a:srgbClr val="14213D"/>
                </a:solidFill>
                <a:latin typeface="Calibri" pitchFamily="34" charset="0"/>
                <a:ea typeface="Calibri" pitchFamily="34" charset="-122"/>
                <a:cs typeface="Calibri" pitchFamily="34" charset="-120"/>
              </a:rPr>
              <a:t>Developer Tooling</a:t>
            </a:r>
            <a:endParaRPr lang="en-US" dirty="0"/>
          </a:p>
        </p:txBody>
      </p:sp>
      <p:sp>
        <p:nvSpPr>
          <p:cNvPr id="29" name="Text 22"/>
          <p:cNvSpPr/>
          <p:nvPr/>
        </p:nvSpPr>
        <p:spPr>
          <a:xfrm>
            <a:off x="4507992" y="4709160"/>
            <a:ext cx="3246120" cy="1097280"/>
          </a:xfrm>
          <a:prstGeom prst="rect">
            <a:avLst/>
          </a:prstGeom>
          <a:noFill/>
          <a:ln/>
        </p:spPr>
        <p:txBody>
          <a:bodyPr wrap="square" lIns="0" tIns="0" rIns="0" bIns="0" rtlCol="0" anchor="ctr"/>
          <a:lstStyle/>
          <a:p>
            <a:pPr marL="0" indent="0">
              <a:lnSpc>
                <a:spcPct val="118000"/>
              </a:lnSpc>
              <a:buNone/>
            </a:pPr>
            <a:r>
              <a:rPr lang="en-US" sz="950" dirty="0">
                <a:solidFill>
                  <a:srgbClr val="5C6B8A"/>
                </a:solidFill>
                <a:latin typeface="Calibri" pitchFamily="34" charset="0"/>
                <a:ea typeface="Calibri" pitchFamily="34" charset="-122"/>
                <a:cs typeface="Calibri" pitchFamily="34" charset="-120"/>
              </a:rPr>
              <a:t>In-platform Code Sandbox &amp; Test Runner (premium) — run, test, and validate submitted code with a 7-day free trial.</a:t>
            </a:r>
            <a:endParaRPr lang="en-US" sz="950" dirty="0"/>
          </a:p>
        </p:txBody>
      </p:sp>
      <p:sp>
        <p:nvSpPr>
          <p:cNvPr id="30" name="Shape 23"/>
          <p:cNvSpPr/>
          <p:nvPr/>
        </p:nvSpPr>
        <p:spPr>
          <a:xfrm>
            <a:off x="8101584" y="3959352"/>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31" name="Shape 24"/>
          <p:cNvSpPr/>
          <p:nvPr/>
        </p:nvSpPr>
        <p:spPr>
          <a:xfrm>
            <a:off x="8266176" y="4123944"/>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32" name="Image 5" descr="./icons/chart_dark.png"/>
          <p:cNvPicPr>
            <a:picLocks noChangeAspect="1"/>
          </p:cNvPicPr>
          <p:nvPr/>
        </p:nvPicPr>
        <p:blipFill>
          <a:blip r:embed="rId8"/>
          <a:stretch>
            <a:fillRect/>
          </a:stretch>
        </p:blipFill>
        <p:spPr>
          <a:xfrm>
            <a:off x="8396935" y="4254703"/>
            <a:ext cx="241402" cy="241402"/>
          </a:xfrm>
          <a:prstGeom prst="rect">
            <a:avLst/>
          </a:prstGeom>
        </p:spPr>
      </p:pic>
      <p:sp>
        <p:nvSpPr>
          <p:cNvPr id="33" name="Text 25"/>
          <p:cNvSpPr/>
          <p:nvPr/>
        </p:nvSpPr>
        <p:spPr>
          <a:xfrm>
            <a:off x="8878824" y="4105656"/>
            <a:ext cx="2697480" cy="502920"/>
          </a:xfrm>
          <a:prstGeom prst="rect">
            <a:avLst/>
          </a:prstGeom>
          <a:noFill/>
          <a:ln/>
        </p:spPr>
        <p:txBody>
          <a:bodyPr wrap="square" lIns="0" tIns="0" rIns="0" bIns="0" rtlCol="0" anchor="t"/>
          <a:lstStyle/>
          <a:p>
            <a:pPr marL="0" indent="0">
              <a:buNone/>
            </a:pPr>
            <a:r>
              <a:rPr lang="en-US" b="1" dirty="0">
                <a:solidFill>
                  <a:srgbClr val="14213D"/>
                </a:solidFill>
                <a:latin typeface="Calibri" pitchFamily="34" charset="0"/>
                <a:ea typeface="Calibri" pitchFamily="34" charset="-122"/>
                <a:cs typeface="Calibri" pitchFamily="34" charset="-120"/>
              </a:rPr>
              <a:t>Analytics</a:t>
            </a:r>
            <a:endParaRPr lang="en-US" dirty="0"/>
          </a:p>
        </p:txBody>
      </p:sp>
      <p:sp>
        <p:nvSpPr>
          <p:cNvPr id="34" name="Text 26"/>
          <p:cNvSpPr/>
          <p:nvPr/>
        </p:nvSpPr>
        <p:spPr>
          <a:xfrm>
            <a:off x="8284464" y="4709160"/>
            <a:ext cx="3246120" cy="1097280"/>
          </a:xfrm>
          <a:prstGeom prst="rect">
            <a:avLst/>
          </a:prstGeom>
          <a:noFill/>
          <a:ln/>
        </p:spPr>
        <p:txBody>
          <a:bodyPr wrap="square" lIns="0" tIns="0" rIns="0" bIns="0" rtlCol="0" anchor="ctr"/>
          <a:lstStyle/>
          <a:p>
            <a:pPr marL="0" indent="0">
              <a:lnSpc>
                <a:spcPct val="118000"/>
              </a:lnSpc>
              <a:buNone/>
            </a:pPr>
            <a:r>
              <a:rPr lang="en-US" sz="950" dirty="0">
                <a:solidFill>
                  <a:srgbClr val="5C6B8A"/>
                </a:solidFill>
                <a:latin typeface="Calibri" pitchFamily="34" charset="0"/>
                <a:ea typeface="Calibri" pitchFamily="34" charset="-122"/>
                <a:cs typeface="Calibri" pitchFamily="34" charset="-120"/>
              </a:rPr>
              <a:t>Productivity dashboards, time tracking and timesheet exports, custom fields and project templates per workspace.</a:t>
            </a:r>
            <a:endParaRPr lang="en-US" sz="950" dirty="0"/>
          </a:p>
        </p:txBody>
      </p:sp>
      <p:pic>
        <p:nvPicPr>
          <p:cNvPr id="35" name="Image 6" descr="./icons/arrow_left_white.png">
            <a:hlinkClick r:id="rId9" action="ppaction://hlinksldjump"/>
          </p:cNvPr>
          <p:cNvPicPr>
            <a:picLocks noChangeAspect="1"/>
          </p:cNvPicPr>
          <p:nvPr/>
        </p:nvPicPr>
        <p:blipFill>
          <a:blip r:embed="rId10"/>
          <a:stretch>
            <a:fillRect/>
          </a:stretch>
        </p:blipFill>
        <p:spPr>
          <a:xfrm>
            <a:off x="548640" y="6382512"/>
            <a:ext cx="201168" cy="201168"/>
          </a:xfrm>
          <a:prstGeom prst="rect">
            <a:avLst/>
          </a:prstGeom>
        </p:spPr>
      </p:pic>
      <p:sp>
        <p:nvSpPr>
          <p:cNvPr id="36" name="Shape 27">
            <a:hlinkClick r:id="rId9" action="ppaction://hlinksldjump"/>
          </p:cNvPr>
          <p:cNvSpPr/>
          <p:nvPr/>
        </p:nvSpPr>
        <p:spPr>
          <a:xfrm>
            <a:off x="548640" y="6355080"/>
            <a:ext cx="2377440" cy="365760"/>
          </a:xfrm>
          <a:prstGeom prst="rect">
            <a:avLst/>
          </a:prstGeom>
          <a:solidFill>
            <a:srgbClr val="14213D">
              <a:alpha val="0"/>
            </a:srgbClr>
          </a:solidFill>
          <a:ln/>
        </p:spPr>
      </p:sp>
      <p:sp>
        <p:nvSpPr>
          <p:cNvPr id="37" name="Text 28">
            <a:hlinkClick r:id="rId9" action="ppaction://hlinksldjump"/>
          </p:cNvPr>
          <p:cNvSpPr/>
          <p:nvPr/>
        </p:nvSpPr>
        <p:spPr>
          <a:xfrm>
            <a:off x="841248" y="6355080"/>
            <a:ext cx="2377440" cy="365760"/>
          </a:xfrm>
          <a:prstGeom prst="rect">
            <a:avLst/>
          </a:prstGeom>
          <a:noFill/>
          <a:ln/>
        </p:spPr>
        <p:txBody>
          <a:bodyPr wrap="square" lIns="0" tIns="0" rIns="0" bIns="0" rtlCol="0" anchor="ctr"/>
          <a:lstStyle/>
          <a:p>
            <a:pPr marL="0" indent="0">
              <a:buNone/>
            </a:pPr>
            <a:r>
              <a:rPr lang="en-US" sz="1100" b="1" u="sng" dirty="0">
                <a:solidFill>
                  <a:srgbClr val="14213D"/>
                </a:solidFill>
                <a:latin typeface="Calibri" pitchFamily="34" charset="0"/>
                <a:ea typeface="Calibri" pitchFamily="34" charset="-122"/>
                <a:cs typeface="Calibri" pitchFamily="34" charset="-120"/>
                <a:hlinkClick r:id="rId9" action="ppaction://hlinksldjump">
                  <a:extLst>
                    <a:ext uri="{A12FA001-AC4F-418D-AE19-62706E023703}">
                      <ahyp:hlinkClr xmlns:ahyp="http://schemas.microsoft.com/office/drawing/2018/hyperlinkcolor" val="tx"/>
                    </a:ext>
                  </a:extLst>
                </a:hlinkClick>
              </a:rPr>
              <a:t>BACK TO REVIEW BOARD</a:t>
            </a:r>
            <a:endParaRPr lang="en-US" sz="1100" dirty="0"/>
          </a:p>
        </p:txBody>
      </p:sp>
      <p:sp>
        <p:nvSpPr>
          <p:cNvPr id="38" name="Text 29"/>
          <p:cNvSpPr/>
          <p:nvPr/>
        </p:nvSpPr>
        <p:spPr>
          <a:xfrm>
            <a:off x="8595360" y="6382512"/>
            <a:ext cx="3017520" cy="274320"/>
          </a:xfrm>
          <a:prstGeom prst="rect">
            <a:avLst/>
          </a:prstGeom>
          <a:noFill/>
          <a:ln/>
        </p:spPr>
        <p:txBody>
          <a:bodyPr wrap="square" lIns="0" tIns="0" rIns="0" bIns="0" rtlCol="0" anchor="ctr"/>
          <a:lstStyle/>
          <a:p>
            <a:pPr marL="0" indent="0" algn="r">
              <a:buNone/>
            </a:pPr>
            <a:r>
              <a:rPr lang="en-US" sz="1000" dirty="0">
                <a:solidFill>
                  <a:srgbClr val="A6B0C8"/>
                </a:solidFill>
                <a:latin typeface="Calibri" pitchFamily="34" charset="0"/>
                <a:ea typeface="Calibri" pitchFamily="34" charset="-122"/>
                <a:cs typeface="Calibri" pitchFamily="34" charset="-120"/>
              </a:rPr>
              <a:t>Cadence Review · Features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E05C2A"/>
                </a:solidFill>
                <a:latin typeface="Calibri" pitchFamily="34" charset="0"/>
                <a:ea typeface="Calibri" pitchFamily="34" charset="-122"/>
                <a:cs typeface="Calibri" pitchFamily="34" charset="-120"/>
              </a:rPr>
              <a:t>SECTION 03 · REVIEWED BY THEORIONGD</a:t>
            </a:r>
            <a:endParaRPr lang="en-US" sz="1200" dirty="0"/>
          </a:p>
        </p:txBody>
      </p:sp>
      <p:sp>
        <p:nvSpPr>
          <p:cNvPr id="3" name="Text 1"/>
          <p:cNvSpPr/>
          <p:nvPr/>
        </p:nvSpPr>
        <p:spPr>
          <a:xfrm>
            <a:off x="548640" y="640080"/>
            <a:ext cx="9601200" cy="64008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Tech Stack &amp; Architecture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126480" cy="3364992"/>
        </p:xfrm>
        <a:graphic>
          <a:graphicData uri="http://schemas.openxmlformats.org/drawingml/2006/table">
            <a:tbl>
              <a:tblPr/>
              <a:tblGrid>
                <a:gridCol w="15544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20624">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Layer</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20624">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Frontend</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Next.js 16 (React 19, App Router) · TypeScript · Tailwind v4 + shadcn/ui · TanStack Query</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Backend</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tRPC (or NestJS/Hono) · Bun runtime · Zod validation · Clerk/Auth.js v5</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Database</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PostgreSQL (Supabase/Neon) · Prisma/Drizzle ORM · Redis cache</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Real-Time</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WebSockets/Socket.IO, or Supabase Realtime / Pusher</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AI Layer</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Vercel AI SDK · Google ADK · LangChain/LlamaIndex · pgvector</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DevOps</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Docker · Nginx · GitHub Actions · Vercel + AWS · Sentry/OpenTelemetry</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6"/>
                  </a:ext>
                </a:extLst>
              </a:tr>
              <a:tr h="420624">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Payments</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1000" dirty="0">
                          <a:solidFill>
                            <a:srgbClr val="2C355C"/>
                          </a:solidFill>
                          <a:latin typeface="Calibri" pitchFamily="34" charset="0"/>
                          <a:ea typeface="Calibri" pitchFamily="34" charset="-122"/>
                          <a:cs typeface="Calibri" pitchFamily="34" charset="-120"/>
                        </a:rPr>
                        <a:t>Stripe — subscription billing, metering, customer portal</a:t>
                      </a:r>
                      <a:endParaRPr lang="en-US" sz="10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6949440" y="1417320"/>
            <a:ext cx="4709160" cy="4965192"/>
          </a:xfrm>
          <a:prstGeom prst="roundRect">
            <a:avLst>
              <a:gd name="adj" fmla="val 2062"/>
            </a:avLst>
          </a:prstGeom>
          <a:solidFill>
            <a:srgbClr val="14213D"/>
          </a:solidFill>
          <a:ln/>
          <a:effectLst>
            <a:outerShdw blurRad="101600" dist="38100" dir="2700000" algn="bl" rotWithShape="0">
              <a:srgbClr val="000000">
                <a:alpha val="18000"/>
              </a:srgbClr>
            </a:outerShdw>
          </a:effectLst>
        </p:spPr>
      </p:sp>
      <p:sp>
        <p:nvSpPr>
          <p:cNvPr id="6" name="Text 3"/>
          <p:cNvSpPr/>
          <p:nvPr/>
        </p:nvSpPr>
        <p:spPr>
          <a:xfrm>
            <a:off x="7223760" y="1627632"/>
            <a:ext cx="4206240" cy="274320"/>
          </a:xfrm>
          <a:prstGeom prst="rect">
            <a:avLst/>
          </a:prstGeom>
          <a:noFill/>
          <a:ln/>
        </p:spPr>
        <p:txBody>
          <a:bodyPr wrap="square" lIns="0" tIns="0" rIns="0" bIns="0" rtlCol="0" anchor="ctr"/>
          <a:lstStyle/>
          <a:p>
            <a:pPr marL="0" indent="0">
              <a:buNone/>
            </a:pPr>
            <a:r>
              <a:rPr lang="en-US" sz="1100" b="1" kern="0" spc="150" dirty="0">
                <a:solidFill>
                  <a:srgbClr val="A8C6FA"/>
                </a:solidFill>
                <a:latin typeface="Calibri" pitchFamily="34" charset="0"/>
                <a:ea typeface="Calibri" pitchFamily="34" charset="-122"/>
                <a:cs typeface="Calibri" pitchFamily="34" charset="-120"/>
              </a:rPr>
              <a:t>SYSTEM ARCHITECTURE</a:t>
            </a:r>
            <a:endParaRPr lang="en-US" sz="1100" dirty="0"/>
          </a:p>
        </p:txBody>
      </p:sp>
      <p:sp>
        <p:nvSpPr>
          <p:cNvPr id="4" name="Shape 4"/>
          <p:cNvSpPr/>
          <p:nvPr/>
        </p:nvSpPr>
        <p:spPr>
          <a:xfrm>
            <a:off x="7223760" y="2057400"/>
            <a:ext cx="4160520" cy="457200"/>
          </a:xfrm>
          <a:prstGeom prst="roundRect">
            <a:avLst>
              <a:gd name="adj" fmla="val 14000"/>
            </a:avLst>
          </a:prstGeom>
          <a:solidFill>
            <a:srgbClr val="1A2550"/>
          </a:solidFill>
          <a:ln/>
        </p:spPr>
      </p:sp>
      <p:sp>
        <p:nvSpPr>
          <p:cNvPr id="8" name="Text 5"/>
          <p:cNvSpPr/>
          <p:nvPr/>
        </p:nvSpPr>
        <p:spPr>
          <a:xfrm>
            <a:off x="7360920" y="2057400"/>
            <a:ext cx="388620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Frontend — Next.js 16 / React 19 (RSC + Server Actions)</a:t>
            </a:r>
            <a:endParaRPr lang="en-US" sz="950" dirty="0"/>
          </a:p>
        </p:txBody>
      </p:sp>
      <p:sp>
        <p:nvSpPr>
          <p:cNvPr id="9" name="Shape 6"/>
          <p:cNvSpPr/>
          <p:nvPr/>
        </p:nvSpPr>
        <p:spPr>
          <a:xfrm>
            <a:off x="7223760" y="2624328"/>
            <a:ext cx="4160520" cy="457200"/>
          </a:xfrm>
          <a:prstGeom prst="roundRect">
            <a:avLst>
              <a:gd name="adj" fmla="val 14000"/>
            </a:avLst>
          </a:prstGeom>
          <a:solidFill>
            <a:srgbClr val="1A2550"/>
          </a:solidFill>
          <a:ln/>
        </p:spPr>
      </p:sp>
      <p:sp>
        <p:nvSpPr>
          <p:cNvPr id="10" name="Text 7"/>
          <p:cNvSpPr/>
          <p:nvPr/>
        </p:nvSpPr>
        <p:spPr>
          <a:xfrm>
            <a:off x="7360920" y="2624328"/>
            <a:ext cx="388620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tRPC / REST / WebSockets</a:t>
            </a:r>
            <a:endParaRPr lang="en-US" sz="950" dirty="0"/>
          </a:p>
        </p:txBody>
      </p:sp>
      <p:sp>
        <p:nvSpPr>
          <p:cNvPr id="11" name="Shape 8"/>
          <p:cNvSpPr/>
          <p:nvPr/>
        </p:nvSpPr>
        <p:spPr>
          <a:xfrm>
            <a:off x="7223760" y="3191256"/>
            <a:ext cx="4160520" cy="457200"/>
          </a:xfrm>
          <a:prstGeom prst="roundRect">
            <a:avLst>
              <a:gd name="adj" fmla="val 14000"/>
            </a:avLst>
          </a:prstGeom>
          <a:solidFill>
            <a:srgbClr val="1A2550"/>
          </a:solidFill>
          <a:ln/>
        </p:spPr>
      </p:sp>
      <p:sp>
        <p:nvSpPr>
          <p:cNvPr id="12" name="Text 9"/>
          <p:cNvSpPr/>
          <p:nvPr/>
        </p:nvSpPr>
        <p:spPr>
          <a:xfrm>
            <a:off x="7360920" y="3191256"/>
            <a:ext cx="388620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Backend API — tRPC, NestJS, or Hono</a:t>
            </a:r>
            <a:endParaRPr lang="en-US" sz="950" dirty="0"/>
          </a:p>
        </p:txBody>
      </p:sp>
      <p:sp>
        <p:nvSpPr>
          <p:cNvPr id="13" name="Shape 10"/>
          <p:cNvSpPr/>
          <p:nvPr/>
        </p:nvSpPr>
        <p:spPr>
          <a:xfrm>
            <a:off x="7223760" y="3758184"/>
            <a:ext cx="4160520" cy="457200"/>
          </a:xfrm>
          <a:prstGeom prst="roundRect">
            <a:avLst>
              <a:gd name="adj" fmla="val 14000"/>
            </a:avLst>
          </a:prstGeom>
          <a:solidFill>
            <a:srgbClr val="1A2550"/>
          </a:solidFill>
          <a:ln/>
        </p:spPr>
      </p:sp>
      <p:sp>
        <p:nvSpPr>
          <p:cNvPr id="14" name="Text 11"/>
          <p:cNvSpPr/>
          <p:nvPr/>
        </p:nvSpPr>
        <p:spPr>
          <a:xfrm>
            <a:off x="7360920" y="3758184"/>
            <a:ext cx="388620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Prisma / Drizzle ORM</a:t>
            </a:r>
            <a:endParaRPr lang="en-US" sz="950" dirty="0"/>
          </a:p>
        </p:txBody>
      </p:sp>
      <p:sp>
        <p:nvSpPr>
          <p:cNvPr id="15" name="Shape 12"/>
          <p:cNvSpPr/>
          <p:nvPr/>
        </p:nvSpPr>
        <p:spPr>
          <a:xfrm>
            <a:off x="7223760" y="4325112"/>
            <a:ext cx="4160520" cy="457200"/>
          </a:xfrm>
          <a:prstGeom prst="roundRect">
            <a:avLst>
              <a:gd name="adj" fmla="val 14000"/>
            </a:avLst>
          </a:prstGeom>
          <a:solidFill>
            <a:srgbClr val="E05C2A"/>
          </a:solidFill>
          <a:ln/>
        </p:spPr>
      </p:sp>
      <p:sp>
        <p:nvSpPr>
          <p:cNvPr id="16" name="Text 13"/>
          <p:cNvSpPr/>
          <p:nvPr/>
        </p:nvSpPr>
        <p:spPr>
          <a:xfrm>
            <a:off x="7360920" y="4325112"/>
            <a:ext cx="388620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PostgreSQL + Redis + pgvector</a:t>
            </a:r>
            <a:endParaRPr lang="en-US" sz="950" dirty="0"/>
          </a:p>
        </p:txBody>
      </p:sp>
      <p:pic>
        <p:nvPicPr>
          <p:cNvPr id="17" name="Image 0" descr="./icons/check_white.png"/>
          <p:cNvPicPr>
            <a:picLocks noChangeAspect="1"/>
          </p:cNvPicPr>
          <p:nvPr/>
        </p:nvPicPr>
        <p:blipFill>
          <a:blip r:embed="rId3"/>
          <a:stretch>
            <a:fillRect/>
          </a:stretch>
        </p:blipFill>
        <p:spPr>
          <a:xfrm>
            <a:off x="7223760" y="5056632"/>
            <a:ext cx="146304" cy="146304"/>
          </a:xfrm>
          <a:prstGeom prst="rect">
            <a:avLst/>
          </a:prstGeom>
        </p:spPr>
      </p:pic>
      <p:sp>
        <p:nvSpPr>
          <p:cNvPr id="18" name="Text 14"/>
          <p:cNvSpPr/>
          <p:nvPr/>
        </p:nvSpPr>
        <p:spPr>
          <a:xfrm>
            <a:off x="7452360" y="5029200"/>
            <a:ext cx="3931920" cy="320040"/>
          </a:xfrm>
          <a:prstGeom prst="rect">
            <a:avLst/>
          </a:prstGeom>
          <a:noFill/>
          <a:ln/>
        </p:spPr>
        <p:txBody>
          <a:bodyPr wrap="square" lIns="0" tIns="0" rIns="0" bIns="0" rtlCol="0" anchor="ctr"/>
          <a:lstStyle/>
          <a:p>
            <a:pPr marL="0" indent="0">
              <a:buNone/>
            </a:pPr>
            <a:r>
              <a:rPr lang="en-US" sz="950" dirty="0">
                <a:solidFill>
                  <a:srgbClr val="C2CBE8"/>
                </a:solidFill>
                <a:latin typeface="Calibri" pitchFamily="34" charset="0"/>
                <a:ea typeface="Calibri" pitchFamily="34" charset="-122"/>
                <a:cs typeface="Calibri" pitchFamily="34" charset="-120"/>
              </a:rPr>
              <a:t>Stateless backend, horizontally scalable</a:t>
            </a:r>
            <a:endParaRPr lang="en-US" sz="950" dirty="0"/>
          </a:p>
        </p:txBody>
      </p:sp>
      <p:pic>
        <p:nvPicPr>
          <p:cNvPr id="19" name="Image 1" descr="./icons/check_white.png"/>
          <p:cNvPicPr>
            <a:picLocks noChangeAspect="1"/>
          </p:cNvPicPr>
          <p:nvPr/>
        </p:nvPicPr>
        <p:blipFill>
          <a:blip r:embed="rId3"/>
          <a:stretch>
            <a:fillRect/>
          </a:stretch>
        </p:blipFill>
        <p:spPr>
          <a:xfrm>
            <a:off x="7223760" y="5385816"/>
            <a:ext cx="146304" cy="146304"/>
          </a:xfrm>
          <a:prstGeom prst="rect">
            <a:avLst/>
          </a:prstGeom>
        </p:spPr>
      </p:pic>
      <p:sp>
        <p:nvSpPr>
          <p:cNvPr id="20" name="Text 15"/>
          <p:cNvSpPr/>
          <p:nvPr/>
        </p:nvSpPr>
        <p:spPr>
          <a:xfrm>
            <a:off x="7452360" y="5358384"/>
            <a:ext cx="3931920" cy="320040"/>
          </a:xfrm>
          <a:prstGeom prst="rect">
            <a:avLst/>
          </a:prstGeom>
          <a:noFill/>
          <a:ln/>
        </p:spPr>
        <p:txBody>
          <a:bodyPr wrap="square" lIns="0" tIns="0" rIns="0" bIns="0" rtlCol="0" anchor="ctr"/>
          <a:lstStyle/>
          <a:p>
            <a:pPr marL="0" indent="0">
              <a:buNone/>
            </a:pPr>
            <a:r>
              <a:rPr lang="en-US" sz="950" dirty="0">
                <a:solidFill>
                  <a:srgbClr val="C2CBE8"/>
                </a:solidFill>
                <a:latin typeface="Calibri" pitchFamily="34" charset="0"/>
                <a:ea typeface="Calibri" pitchFamily="34" charset="-122"/>
                <a:cs typeface="Calibri" pitchFamily="34" charset="-120"/>
              </a:rPr>
              <a:t>Token-based auth (JWT/session)</a:t>
            </a:r>
            <a:endParaRPr lang="en-US" sz="950" dirty="0"/>
          </a:p>
        </p:txBody>
      </p:sp>
      <p:pic>
        <p:nvPicPr>
          <p:cNvPr id="21" name="Image 2" descr="./icons/check_white.png"/>
          <p:cNvPicPr>
            <a:picLocks noChangeAspect="1"/>
          </p:cNvPicPr>
          <p:nvPr/>
        </p:nvPicPr>
        <p:blipFill>
          <a:blip r:embed="rId3"/>
          <a:stretch>
            <a:fillRect/>
          </a:stretch>
        </p:blipFill>
        <p:spPr>
          <a:xfrm>
            <a:off x="7223760" y="5715000"/>
            <a:ext cx="146304" cy="146304"/>
          </a:xfrm>
          <a:prstGeom prst="rect">
            <a:avLst/>
          </a:prstGeom>
        </p:spPr>
      </p:pic>
      <p:sp>
        <p:nvSpPr>
          <p:cNvPr id="22" name="Text 16"/>
          <p:cNvSpPr/>
          <p:nvPr/>
        </p:nvSpPr>
        <p:spPr>
          <a:xfrm>
            <a:off x="7452360" y="5687568"/>
            <a:ext cx="3931920" cy="320040"/>
          </a:xfrm>
          <a:prstGeom prst="rect">
            <a:avLst/>
          </a:prstGeom>
          <a:noFill/>
          <a:ln/>
        </p:spPr>
        <p:txBody>
          <a:bodyPr wrap="square" lIns="0" tIns="0" rIns="0" bIns="0" rtlCol="0" anchor="ctr"/>
          <a:lstStyle/>
          <a:p>
            <a:pPr marL="0" indent="0">
              <a:buNone/>
            </a:pPr>
            <a:r>
              <a:rPr lang="en-US" sz="950" dirty="0">
                <a:solidFill>
                  <a:srgbClr val="C2CBE8"/>
                </a:solidFill>
                <a:latin typeface="Calibri" pitchFamily="34" charset="0"/>
                <a:ea typeface="Calibri" pitchFamily="34" charset="-122"/>
                <a:cs typeface="Calibri" pitchFamily="34" charset="-120"/>
              </a:rPr>
              <a:t>Role-aware validation at API + DB (RLS)</a:t>
            </a:r>
            <a:endParaRPr lang="en-US" sz="950" dirty="0"/>
          </a:p>
        </p:txBody>
      </p:sp>
      <p:pic>
        <p:nvPicPr>
          <p:cNvPr id="23" name="Image 3" descr="./icons/check_white.png"/>
          <p:cNvPicPr>
            <a:picLocks noChangeAspect="1"/>
          </p:cNvPicPr>
          <p:nvPr/>
        </p:nvPicPr>
        <p:blipFill>
          <a:blip r:embed="rId3"/>
          <a:stretch>
            <a:fillRect/>
          </a:stretch>
        </p:blipFill>
        <p:spPr>
          <a:xfrm>
            <a:off x="7223760" y="6044184"/>
            <a:ext cx="146304" cy="146304"/>
          </a:xfrm>
          <a:prstGeom prst="rect">
            <a:avLst/>
          </a:prstGeom>
        </p:spPr>
      </p:pic>
      <p:sp>
        <p:nvSpPr>
          <p:cNvPr id="24" name="Text 17"/>
          <p:cNvSpPr/>
          <p:nvPr/>
        </p:nvSpPr>
        <p:spPr>
          <a:xfrm>
            <a:off x="7452360" y="6016752"/>
            <a:ext cx="3931920" cy="320040"/>
          </a:xfrm>
          <a:prstGeom prst="rect">
            <a:avLst/>
          </a:prstGeom>
          <a:noFill/>
          <a:ln/>
        </p:spPr>
        <p:txBody>
          <a:bodyPr wrap="square" lIns="0" tIns="0" rIns="0" bIns="0" rtlCol="0" anchor="ctr"/>
          <a:lstStyle/>
          <a:p>
            <a:pPr marL="0" indent="0">
              <a:buNone/>
            </a:pPr>
            <a:r>
              <a:rPr lang="en-US" sz="950" dirty="0">
                <a:solidFill>
                  <a:srgbClr val="C2CBE8"/>
                </a:solidFill>
                <a:latin typeface="Calibri" pitchFamily="34" charset="0"/>
                <a:ea typeface="Calibri" pitchFamily="34" charset="-122"/>
                <a:cs typeface="Calibri" pitchFamily="34" charset="-120"/>
              </a:rPr>
              <a:t>AI inference decoupled for independent scaling</a:t>
            </a:r>
            <a:endParaRPr lang="en-US" sz="950" dirty="0"/>
          </a:p>
        </p:txBody>
      </p:sp>
      <p:pic>
        <p:nvPicPr>
          <p:cNvPr id="25" name="Image 4"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26" name="Shape 18">
            <a:hlinkClick r:id="rId4" action="ppaction://hlinksldjump"/>
          </p:cNvPr>
          <p:cNvSpPr/>
          <p:nvPr/>
        </p:nvSpPr>
        <p:spPr>
          <a:xfrm>
            <a:off x="548640" y="6355080"/>
            <a:ext cx="2377440" cy="365760"/>
          </a:xfrm>
          <a:prstGeom prst="rect">
            <a:avLst/>
          </a:prstGeom>
          <a:solidFill>
            <a:srgbClr val="14213D">
              <a:alpha val="0"/>
            </a:srgbClr>
          </a:solidFill>
          <a:ln/>
        </p:spPr>
      </p:sp>
      <p:sp>
        <p:nvSpPr>
          <p:cNvPr id="27" name="Text 19">
            <a:hlinkClick r:id="rId4" action="ppaction://hlinksldjump"/>
          </p:cNvPr>
          <p:cNvSpPr/>
          <p:nvPr/>
        </p:nvSpPr>
        <p:spPr>
          <a:xfrm>
            <a:off x="841248" y="6355080"/>
            <a:ext cx="2377440" cy="365760"/>
          </a:xfrm>
          <a:prstGeom prst="rect">
            <a:avLst/>
          </a:prstGeom>
          <a:noFill/>
          <a:ln/>
        </p:spPr>
        <p:txBody>
          <a:bodyPr wrap="square" lIns="0" tIns="0" rIns="0" bIns="0" rtlCol="0" anchor="ctr"/>
          <a:lstStyle/>
          <a:p>
            <a:pPr marL="0" indent="0">
              <a:buNone/>
            </a:pPr>
            <a:r>
              <a:rPr lang="en-US" sz="1100" b="1" u="sng" dirty="0">
                <a:solidFill>
                  <a:srgbClr val="14213D"/>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BACK TO REVIEW BOARD</a:t>
            </a:r>
            <a:endParaRPr lang="en-US" sz="1100" dirty="0"/>
          </a:p>
        </p:txBody>
      </p:sp>
      <p:sp>
        <p:nvSpPr>
          <p:cNvPr id="28" name="Text 20"/>
          <p:cNvSpPr/>
          <p:nvPr/>
        </p:nvSpPr>
        <p:spPr>
          <a:xfrm>
            <a:off x="8595360" y="6382512"/>
            <a:ext cx="3017520" cy="274320"/>
          </a:xfrm>
          <a:prstGeom prst="rect">
            <a:avLst/>
          </a:prstGeom>
          <a:noFill/>
          <a:ln/>
        </p:spPr>
        <p:txBody>
          <a:bodyPr wrap="square" lIns="0" tIns="0" rIns="0" bIns="0" rtlCol="0" anchor="ctr"/>
          <a:lstStyle/>
          <a:p>
            <a:pPr marL="0" indent="0" algn="r">
              <a:buNone/>
            </a:pPr>
            <a:r>
              <a:rPr lang="en-US" sz="1000" dirty="0">
                <a:solidFill>
                  <a:srgbClr val="A6B0C8"/>
                </a:solidFill>
                <a:latin typeface="Calibri" pitchFamily="34" charset="0"/>
                <a:ea typeface="Calibri" pitchFamily="34" charset="-122"/>
                <a:cs typeface="Calibri" pitchFamily="34" charset="-120"/>
              </a:rPr>
              <a:t>Cadence Review · Stack &amp; Architecture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E05C2A"/>
                </a:solidFill>
                <a:latin typeface="Calibri" pitchFamily="34" charset="0"/>
                <a:ea typeface="Calibri" pitchFamily="34" charset="-122"/>
                <a:cs typeface="Calibri" pitchFamily="34" charset="-120"/>
              </a:rPr>
              <a:t>SECTION 04 · REVIEWED BY THEORIONGD</a:t>
            </a:r>
            <a:endParaRPr lang="en-US" sz="1200" dirty="0"/>
          </a:p>
        </p:txBody>
      </p:sp>
      <p:sp>
        <p:nvSpPr>
          <p:cNvPr id="3" name="Text 1"/>
          <p:cNvSpPr/>
          <p:nvPr/>
        </p:nvSpPr>
        <p:spPr>
          <a:xfrm>
            <a:off x="548640" y="640080"/>
            <a:ext cx="9601200" cy="64008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AI Layer &amp; Agentic Workflows</a:t>
            </a:r>
            <a:endParaRPr lang="en-US" sz="2800" dirty="0"/>
          </a:p>
        </p:txBody>
      </p:sp>
      <p:sp>
        <p:nvSpPr>
          <p:cNvPr id="4" name="Text 2"/>
          <p:cNvSpPr/>
          <p:nvPr/>
        </p:nvSpPr>
        <p:spPr>
          <a:xfrm>
            <a:off x="548640" y="1371600"/>
            <a:ext cx="10607040" cy="320040"/>
          </a:xfrm>
          <a:prstGeom prst="rect">
            <a:avLst/>
          </a:prstGeom>
          <a:noFill/>
          <a:ln/>
        </p:spPr>
        <p:txBody>
          <a:bodyPr wrap="square" lIns="0" tIns="0" rIns="0" bIns="0" rtlCol="0" anchor="ctr"/>
          <a:lstStyle/>
          <a:p>
            <a:pPr marL="0" indent="0">
              <a:buNone/>
            </a:pPr>
            <a:r>
              <a:rPr lang="en-US" sz="1250" dirty="0">
                <a:solidFill>
                  <a:srgbClr val="2C355C"/>
                </a:solidFill>
                <a:latin typeface="Calibri" pitchFamily="34" charset="0"/>
                <a:ea typeface="Calibri" pitchFamily="34" charset="-122"/>
                <a:cs typeface="Calibri" pitchFamily="34" charset="-120"/>
              </a:rPr>
              <a:t>A lightweight orchestration layer routes each task to the model best suited for it.</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858000" cy="1828800"/>
        </p:xfrm>
        <a:graphic>
          <a:graphicData uri="http://schemas.openxmlformats.org/drawingml/2006/table">
            <a:tbl>
              <a:tblPr/>
              <a:tblGrid>
                <a:gridCol w="33832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57200">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Use Case</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Why</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buNone/>
                      </a:pPr>
                      <a:r>
                        <a:rPr lang="en-US" sz="950" dirty="0">
                          <a:solidFill>
                            <a:srgbClr val="2C355C"/>
                          </a:solidFill>
                          <a:latin typeface="Calibri" pitchFamily="34" charset="0"/>
                          <a:ea typeface="Calibri" pitchFamily="34" charset="-122"/>
                          <a:cs typeface="Calibri" pitchFamily="34" charset="-120"/>
                        </a:rPr>
                        <a:t>Task prioritization, nuanced summaries</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50" dirty="0">
                          <a:solidFill>
                            <a:srgbClr val="2C355C"/>
                          </a:solidFill>
                          <a:latin typeface="Calibri" pitchFamily="34" charset="0"/>
                          <a:ea typeface="Calibri" pitchFamily="34" charset="-122"/>
                          <a:cs typeface="Calibri" pitchFamily="34" charset="-120"/>
                        </a:rPr>
                        <a:t>Claude</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50" dirty="0">
                          <a:solidFill>
                            <a:srgbClr val="2C355C"/>
                          </a:solidFill>
                          <a:latin typeface="Calibri" pitchFamily="34" charset="0"/>
                          <a:ea typeface="Calibri" pitchFamily="34" charset="-122"/>
                          <a:cs typeface="Calibri" pitchFamily="34" charset="-120"/>
                        </a:rPr>
                        <a:t>Strongest reasoning quality</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950" dirty="0">
                          <a:solidFill>
                            <a:srgbClr val="2C355C"/>
                          </a:solidFill>
                          <a:latin typeface="Calibri" pitchFamily="34" charset="0"/>
                          <a:ea typeface="Calibri" pitchFamily="34" charset="-122"/>
                          <a:cs typeface="Calibri" pitchFamily="34" charset="-120"/>
                        </a:rPr>
                        <a:t>Live chat assistant, real-time scoring</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50" dirty="0">
                          <a:solidFill>
                            <a:srgbClr val="2C355C"/>
                          </a:solidFill>
                          <a:latin typeface="Calibri" pitchFamily="34" charset="0"/>
                          <a:ea typeface="Calibri" pitchFamily="34" charset="-122"/>
                          <a:cs typeface="Calibri" pitchFamily="34" charset="-120"/>
                        </a:rPr>
                        <a:t>Groq</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50" dirty="0">
                          <a:solidFill>
                            <a:srgbClr val="2C355C"/>
                          </a:solidFill>
                          <a:latin typeface="Calibri" pitchFamily="34" charset="0"/>
                          <a:ea typeface="Calibri" pitchFamily="34" charset="-122"/>
                          <a:cs typeface="Calibri" pitchFamily="34" charset="-120"/>
                        </a:rPr>
                        <a:t>Lowest latency, near-instant throughput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950" dirty="0">
                          <a:solidFill>
                            <a:srgbClr val="2C355C"/>
                          </a:solidFill>
                          <a:latin typeface="Calibri" pitchFamily="34" charset="0"/>
                          <a:ea typeface="Calibri" pitchFamily="34" charset="-122"/>
                          <a:cs typeface="Calibri" pitchFamily="34" charset="-120"/>
                        </a:rPr>
                        <a:t>Large CSV/Excel ingestion, image/file understanding</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50" dirty="0">
                          <a:solidFill>
                            <a:srgbClr val="2C355C"/>
                          </a:solidFill>
                          <a:latin typeface="Calibri" pitchFamily="34" charset="0"/>
                          <a:ea typeface="Calibri" pitchFamily="34" charset="-122"/>
                          <a:cs typeface="Calibri" pitchFamily="34" charset="-120"/>
                        </a:rPr>
                        <a:t>Gemini</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50" dirty="0">
                          <a:solidFill>
                            <a:srgbClr val="2C355C"/>
                          </a:solidFill>
                          <a:latin typeface="Calibri" pitchFamily="34" charset="0"/>
                          <a:ea typeface="Calibri" pitchFamily="34" charset="-122"/>
                          <a:cs typeface="Calibri" pitchFamily="34" charset="-120"/>
                        </a:rPr>
                        <a:t>Large context window + native multimodal</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548640" y="3657600"/>
            <a:ext cx="6858000" cy="274320"/>
          </a:xfrm>
          <a:prstGeom prst="rect">
            <a:avLst/>
          </a:prstGeom>
          <a:noFill/>
          <a:ln/>
        </p:spPr>
        <p:txBody>
          <a:bodyPr wrap="square" lIns="0" tIns="0" rIns="0" bIns="0" rtlCol="0" anchor="ctr"/>
          <a:lstStyle/>
          <a:p>
            <a:pPr marL="0" indent="0">
              <a:buNone/>
            </a:pPr>
            <a:r>
              <a:rPr lang="en-US" sz="1100" b="1" kern="0" spc="100" dirty="0">
                <a:solidFill>
                  <a:srgbClr val="E05C2A"/>
                </a:solidFill>
                <a:latin typeface="Calibri" pitchFamily="34" charset="0"/>
                <a:ea typeface="Calibri" pitchFamily="34" charset="-122"/>
                <a:cs typeface="Calibri" pitchFamily="34" charset="-120"/>
              </a:rPr>
              <a:t>AGENTIC AI WORKFLOWS — GOOGLE ADK</a:t>
            </a:r>
            <a:endParaRPr lang="en-US" sz="1100" dirty="0"/>
          </a:p>
        </p:txBody>
      </p:sp>
      <p:sp>
        <p:nvSpPr>
          <p:cNvPr id="7" name="Text 4"/>
          <p:cNvSpPr/>
          <p:nvPr/>
        </p:nvSpPr>
        <p:spPr>
          <a:xfrm>
            <a:off x="548640" y="3977640"/>
            <a:ext cx="6858000" cy="502920"/>
          </a:xfrm>
          <a:prstGeom prst="rect">
            <a:avLst/>
          </a:prstGeom>
          <a:noFill/>
          <a:ln/>
        </p:spPr>
        <p:txBody>
          <a:bodyPr wrap="square" lIns="0" tIns="0" rIns="0" bIns="0" rtlCol="0" anchor="ctr"/>
          <a:lstStyle/>
          <a:p>
            <a:pPr marL="0" indent="0">
              <a:lnSpc>
                <a:spcPct val="120000"/>
              </a:lnSpc>
              <a:buNone/>
            </a:pPr>
            <a:r>
              <a:rPr lang="en-US" sz="1000" b="1" dirty="0">
                <a:solidFill>
                  <a:srgbClr val="2C355C"/>
                </a:solidFill>
                <a:latin typeface="Calibri" pitchFamily="34" charset="0"/>
                <a:ea typeface="Calibri" pitchFamily="34" charset="-122"/>
                <a:cs typeface="Calibri" pitchFamily="34" charset="-120"/>
              </a:rPr>
              <a:t>Triage Agent:  </a:t>
            </a:r>
            <a:r>
              <a:rPr lang="en-US" sz="1000" dirty="0">
                <a:solidFill>
                  <a:srgbClr val="5C6B8A"/>
                </a:solidFill>
                <a:latin typeface="Calibri" pitchFamily="34" charset="0"/>
                <a:ea typeface="Calibri" pitchFamily="34" charset="-122"/>
                <a:cs typeface="Calibri" pitchFamily="34" charset="-120"/>
              </a:rPr>
              <a:t>Scans uploads &amp; unassigned work, decides priority order, hands off to auto-assignment.</a:t>
            </a:r>
            <a:endParaRPr lang="en-US" sz="1000" dirty="0"/>
          </a:p>
        </p:txBody>
      </p:sp>
      <p:sp>
        <p:nvSpPr>
          <p:cNvPr id="5" name="Text 5"/>
          <p:cNvSpPr/>
          <p:nvPr/>
        </p:nvSpPr>
        <p:spPr>
          <a:xfrm>
            <a:off x="548640" y="4507992"/>
            <a:ext cx="6858000" cy="502920"/>
          </a:xfrm>
          <a:prstGeom prst="rect">
            <a:avLst/>
          </a:prstGeom>
          <a:noFill/>
          <a:ln/>
        </p:spPr>
        <p:txBody>
          <a:bodyPr wrap="square" lIns="0" tIns="0" rIns="0" bIns="0" rtlCol="0" anchor="ctr"/>
          <a:lstStyle/>
          <a:p>
            <a:pPr marL="0" indent="0">
              <a:lnSpc>
                <a:spcPct val="120000"/>
              </a:lnSpc>
              <a:buNone/>
            </a:pPr>
            <a:r>
              <a:rPr lang="en-US" sz="1000" b="1" dirty="0">
                <a:solidFill>
                  <a:srgbClr val="2C355C"/>
                </a:solidFill>
                <a:latin typeface="Calibri" pitchFamily="34" charset="0"/>
                <a:ea typeface="Calibri" pitchFamily="34" charset="-122"/>
                <a:cs typeface="Calibri" pitchFamily="34" charset="-120"/>
              </a:rPr>
              <a:t>Reassignment Agent:  </a:t>
            </a:r>
            <a:r>
              <a:rPr lang="en-US" sz="1000" dirty="0">
                <a:solidFill>
                  <a:srgbClr val="5C6B8A"/>
                </a:solidFill>
                <a:latin typeface="Calibri" pitchFamily="34" charset="0"/>
                <a:ea typeface="Calibri" pitchFamily="34" charset="-122"/>
                <a:cs typeface="Calibri" pitchFamily="34" charset="-120"/>
              </a:rPr>
              <a:t>Watches completed/blocked tasks and over-capacity members, re-routes work in real time.</a:t>
            </a:r>
            <a:endParaRPr lang="en-US" sz="1000" dirty="0"/>
          </a:p>
        </p:txBody>
      </p:sp>
      <p:sp>
        <p:nvSpPr>
          <p:cNvPr id="9" name="Text 6"/>
          <p:cNvSpPr/>
          <p:nvPr/>
        </p:nvSpPr>
        <p:spPr>
          <a:xfrm>
            <a:off x="548640" y="5038344"/>
            <a:ext cx="6858000" cy="502920"/>
          </a:xfrm>
          <a:prstGeom prst="rect">
            <a:avLst/>
          </a:prstGeom>
          <a:noFill/>
          <a:ln/>
        </p:spPr>
        <p:txBody>
          <a:bodyPr wrap="square" lIns="0" tIns="0" rIns="0" bIns="0" rtlCol="0" anchor="ctr"/>
          <a:lstStyle/>
          <a:p>
            <a:pPr marL="0" indent="0">
              <a:lnSpc>
                <a:spcPct val="120000"/>
              </a:lnSpc>
              <a:buNone/>
            </a:pPr>
            <a:r>
              <a:rPr lang="en-US" sz="1000" b="1" dirty="0">
                <a:solidFill>
                  <a:srgbClr val="2C355C"/>
                </a:solidFill>
                <a:latin typeface="Calibri" pitchFamily="34" charset="0"/>
                <a:ea typeface="Calibri" pitchFamily="34" charset="-122"/>
                <a:cs typeface="Calibri" pitchFamily="34" charset="-120"/>
              </a:rPr>
              <a:t>Reporting Agent:  </a:t>
            </a:r>
            <a:r>
              <a:rPr lang="en-US" sz="1000" dirty="0">
                <a:solidFill>
                  <a:srgbClr val="5C6B8A"/>
                </a:solidFill>
                <a:latin typeface="Calibri" pitchFamily="34" charset="0"/>
                <a:ea typeface="Calibri" pitchFamily="34" charset="-122"/>
                <a:cs typeface="Calibri" pitchFamily="34" charset="-120"/>
              </a:rPr>
              <a:t>Runs on a schedule to compile and deliver project/portfolio summaries.</a:t>
            </a:r>
            <a:endParaRPr lang="en-US" sz="1000" dirty="0"/>
          </a:p>
        </p:txBody>
      </p:sp>
      <p:sp>
        <p:nvSpPr>
          <p:cNvPr id="10" name="Shape 7"/>
          <p:cNvSpPr/>
          <p:nvPr/>
        </p:nvSpPr>
        <p:spPr>
          <a:xfrm>
            <a:off x="7680960" y="1828800"/>
            <a:ext cx="3977640" cy="4023360"/>
          </a:xfrm>
          <a:prstGeom prst="roundRect">
            <a:avLst>
              <a:gd name="adj" fmla="val 2299"/>
            </a:avLst>
          </a:prstGeom>
          <a:solidFill>
            <a:srgbClr val="14213D"/>
          </a:solidFill>
          <a:ln/>
          <a:effectLst>
            <a:outerShdw blurRad="101600" dist="38100" dir="2700000" algn="bl" rotWithShape="0">
              <a:srgbClr val="000000">
                <a:alpha val="18000"/>
              </a:srgbClr>
            </a:outerShdw>
          </a:effectLst>
        </p:spPr>
      </p:sp>
      <p:pic>
        <p:nvPicPr>
          <p:cNvPr id="11" name="Image 0" descr="./icons/robot_white.png"/>
          <p:cNvPicPr>
            <a:picLocks noChangeAspect="1"/>
          </p:cNvPicPr>
          <p:nvPr/>
        </p:nvPicPr>
        <p:blipFill>
          <a:blip r:embed="rId3"/>
          <a:stretch>
            <a:fillRect/>
          </a:stretch>
        </p:blipFill>
        <p:spPr>
          <a:xfrm>
            <a:off x="7909560" y="2011680"/>
            <a:ext cx="365760" cy="365760"/>
          </a:xfrm>
          <a:prstGeom prst="rect">
            <a:avLst/>
          </a:prstGeom>
        </p:spPr>
      </p:pic>
      <p:sp>
        <p:nvSpPr>
          <p:cNvPr id="12" name="Text 8"/>
          <p:cNvSpPr/>
          <p:nvPr/>
        </p:nvSpPr>
        <p:spPr>
          <a:xfrm>
            <a:off x="8366760" y="2011680"/>
            <a:ext cx="3200400" cy="365760"/>
          </a:xfrm>
          <a:prstGeom prst="rect">
            <a:avLst/>
          </a:prstGeom>
          <a:noFill/>
          <a:ln/>
        </p:spPr>
        <p:txBody>
          <a:bodyPr wrap="square" lIns="0" tIns="0" rIns="0" bIns="0" rtlCol="0" anchor="ctr"/>
          <a:lstStyle/>
          <a:p>
            <a:pPr marL="0" indent="0">
              <a:buNone/>
            </a:pPr>
            <a:r>
              <a:rPr lang="en-US" sz="1150" b="1" dirty="0">
                <a:solidFill>
                  <a:srgbClr val="A8C6FA"/>
                </a:solidFill>
                <a:latin typeface="Calibri" pitchFamily="34" charset="0"/>
                <a:ea typeface="Calibri" pitchFamily="34" charset="-122"/>
                <a:cs typeface="Calibri" pitchFamily="34" charset="-120"/>
              </a:rPr>
              <a:t>AI LAYER CAPABILITIES</a:t>
            </a:r>
            <a:endParaRPr lang="en-US" sz="1150" dirty="0"/>
          </a:p>
        </p:txBody>
      </p:sp>
      <p:pic>
        <p:nvPicPr>
          <p:cNvPr id="13" name="Image 1" descr="./icons/check_white.png"/>
          <p:cNvPicPr>
            <a:picLocks noChangeAspect="1"/>
          </p:cNvPicPr>
          <p:nvPr/>
        </p:nvPicPr>
        <p:blipFill>
          <a:blip r:embed="rId4"/>
          <a:stretch>
            <a:fillRect/>
          </a:stretch>
        </p:blipFill>
        <p:spPr>
          <a:xfrm>
            <a:off x="7909560" y="2542032"/>
            <a:ext cx="146304" cy="146304"/>
          </a:xfrm>
          <a:prstGeom prst="rect">
            <a:avLst/>
          </a:prstGeom>
        </p:spPr>
      </p:pic>
      <p:sp>
        <p:nvSpPr>
          <p:cNvPr id="14" name="Text 9"/>
          <p:cNvSpPr/>
          <p:nvPr/>
        </p:nvSpPr>
        <p:spPr>
          <a:xfrm>
            <a:off x="8138160" y="2514600"/>
            <a:ext cx="3383280" cy="411480"/>
          </a:xfrm>
          <a:prstGeom prst="rect">
            <a:avLst/>
          </a:prstGeom>
          <a:noFill/>
          <a:ln/>
        </p:spPr>
        <p:txBody>
          <a:bodyPr wrap="square" lIns="0" tIns="0" rIns="0" bIns="0" rtlCol="0" anchor="ctr"/>
          <a:lstStyle/>
          <a:p>
            <a:pPr marL="0" indent="0">
              <a:lnSpc>
                <a:spcPct val="115000"/>
              </a:lnSpc>
              <a:buNone/>
            </a:pPr>
            <a:r>
              <a:rPr lang="en-US" sz="950" dirty="0">
                <a:solidFill>
                  <a:srgbClr val="D5DAEF"/>
                </a:solidFill>
                <a:latin typeface="Calibri" pitchFamily="34" charset="0"/>
                <a:ea typeface="Calibri" pitchFamily="34" charset="-122"/>
                <a:cs typeface="Calibri" pitchFamily="34" charset="-120"/>
              </a:rPr>
              <a:t>Claude-powered task prioritization scoring</a:t>
            </a:r>
            <a:endParaRPr lang="en-US" sz="950" dirty="0"/>
          </a:p>
        </p:txBody>
      </p:sp>
      <p:pic>
        <p:nvPicPr>
          <p:cNvPr id="15" name="Image 2" descr="./icons/check_white.png"/>
          <p:cNvPicPr>
            <a:picLocks noChangeAspect="1"/>
          </p:cNvPicPr>
          <p:nvPr/>
        </p:nvPicPr>
        <p:blipFill>
          <a:blip r:embed="rId4"/>
          <a:stretch>
            <a:fillRect/>
          </a:stretch>
        </p:blipFill>
        <p:spPr>
          <a:xfrm>
            <a:off x="7909560" y="2999232"/>
            <a:ext cx="146304" cy="146304"/>
          </a:xfrm>
          <a:prstGeom prst="rect">
            <a:avLst/>
          </a:prstGeom>
        </p:spPr>
      </p:pic>
      <p:sp>
        <p:nvSpPr>
          <p:cNvPr id="16" name="Text 10"/>
          <p:cNvSpPr/>
          <p:nvPr/>
        </p:nvSpPr>
        <p:spPr>
          <a:xfrm>
            <a:off x="8138160" y="2971800"/>
            <a:ext cx="3383280" cy="411480"/>
          </a:xfrm>
          <a:prstGeom prst="rect">
            <a:avLst/>
          </a:prstGeom>
          <a:noFill/>
          <a:ln/>
        </p:spPr>
        <p:txBody>
          <a:bodyPr wrap="square" lIns="0" tIns="0" rIns="0" bIns="0" rtlCol="0" anchor="ctr"/>
          <a:lstStyle/>
          <a:p>
            <a:pPr marL="0" indent="0">
              <a:lnSpc>
                <a:spcPct val="115000"/>
              </a:lnSpc>
              <a:buNone/>
            </a:pPr>
            <a:r>
              <a:rPr lang="en-US" sz="950" dirty="0">
                <a:solidFill>
                  <a:srgbClr val="D5DAEF"/>
                </a:solidFill>
                <a:latin typeface="Calibri" pitchFamily="34" charset="0"/>
                <a:ea typeface="Calibri" pitchFamily="34" charset="-122"/>
                <a:cs typeface="Calibri" pitchFamily="34" charset="-120"/>
              </a:rPr>
              <a:t>Auto-generated project/sprint summaries</a:t>
            </a:r>
            <a:endParaRPr lang="en-US" sz="950" dirty="0"/>
          </a:p>
        </p:txBody>
      </p:sp>
      <p:pic>
        <p:nvPicPr>
          <p:cNvPr id="17" name="Image 3" descr="./icons/check_white.png"/>
          <p:cNvPicPr>
            <a:picLocks noChangeAspect="1"/>
          </p:cNvPicPr>
          <p:nvPr/>
        </p:nvPicPr>
        <p:blipFill>
          <a:blip r:embed="rId4"/>
          <a:stretch>
            <a:fillRect/>
          </a:stretch>
        </p:blipFill>
        <p:spPr>
          <a:xfrm>
            <a:off x="7909560" y="3456432"/>
            <a:ext cx="146304" cy="146304"/>
          </a:xfrm>
          <a:prstGeom prst="rect">
            <a:avLst/>
          </a:prstGeom>
        </p:spPr>
      </p:pic>
      <p:sp>
        <p:nvSpPr>
          <p:cNvPr id="18" name="Text 11"/>
          <p:cNvSpPr/>
          <p:nvPr/>
        </p:nvSpPr>
        <p:spPr>
          <a:xfrm>
            <a:off x="8138160" y="3429000"/>
            <a:ext cx="3383280" cy="411480"/>
          </a:xfrm>
          <a:prstGeom prst="rect">
            <a:avLst/>
          </a:prstGeom>
          <a:noFill/>
          <a:ln/>
        </p:spPr>
        <p:txBody>
          <a:bodyPr wrap="square" lIns="0" tIns="0" rIns="0" bIns="0" rtlCol="0" anchor="ctr"/>
          <a:lstStyle/>
          <a:p>
            <a:pPr marL="0" indent="0">
              <a:lnSpc>
                <a:spcPct val="115000"/>
              </a:lnSpc>
              <a:buNone/>
            </a:pPr>
            <a:r>
              <a:rPr lang="en-US" sz="950" dirty="0">
                <a:solidFill>
                  <a:srgbClr val="D5DAEF"/>
                </a:solidFill>
                <a:latin typeface="Calibri" pitchFamily="34" charset="0"/>
                <a:ea typeface="Calibri" pitchFamily="34" charset="-122"/>
                <a:cs typeface="Calibri" pitchFamily="34" charset="-120"/>
              </a:rPr>
              <a:t>Vector-embedding semantic search</a:t>
            </a:r>
            <a:endParaRPr lang="en-US" sz="950" dirty="0"/>
          </a:p>
        </p:txBody>
      </p:sp>
      <p:pic>
        <p:nvPicPr>
          <p:cNvPr id="19" name="Image 4" descr="./icons/check_white.png"/>
          <p:cNvPicPr>
            <a:picLocks noChangeAspect="1"/>
          </p:cNvPicPr>
          <p:nvPr/>
        </p:nvPicPr>
        <p:blipFill>
          <a:blip r:embed="rId4"/>
          <a:stretch>
            <a:fillRect/>
          </a:stretch>
        </p:blipFill>
        <p:spPr>
          <a:xfrm>
            <a:off x="7909560" y="3913632"/>
            <a:ext cx="146304" cy="146304"/>
          </a:xfrm>
          <a:prstGeom prst="rect">
            <a:avLst/>
          </a:prstGeom>
        </p:spPr>
      </p:pic>
      <p:sp>
        <p:nvSpPr>
          <p:cNvPr id="20" name="Text 12"/>
          <p:cNvSpPr/>
          <p:nvPr/>
        </p:nvSpPr>
        <p:spPr>
          <a:xfrm>
            <a:off x="8138160" y="3886200"/>
            <a:ext cx="3383280" cy="411480"/>
          </a:xfrm>
          <a:prstGeom prst="rect">
            <a:avLst/>
          </a:prstGeom>
          <a:noFill/>
          <a:ln/>
        </p:spPr>
        <p:txBody>
          <a:bodyPr wrap="square" lIns="0" tIns="0" rIns="0" bIns="0" rtlCol="0" anchor="ctr"/>
          <a:lstStyle/>
          <a:p>
            <a:pPr marL="0" indent="0">
              <a:lnSpc>
                <a:spcPct val="115000"/>
              </a:lnSpc>
              <a:buNone/>
            </a:pPr>
            <a:r>
              <a:rPr lang="en-US" sz="950" dirty="0">
                <a:solidFill>
                  <a:srgbClr val="D5DAEF"/>
                </a:solidFill>
                <a:latin typeface="Calibri" pitchFamily="34" charset="0"/>
                <a:ea typeface="Calibri" pitchFamily="34" charset="-122"/>
                <a:cs typeface="Calibri" pitchFamily="34" charset="-120"/>
              </a:rPr>
              <a:t>Conversational assistant via Groq</a:t>
            </a:r>
            <a:endParaRPr lang="en-US" sz="950" dirty="0"/>
          </a:p>
        </p:txBody>
      </p:sp>
      <p:pic>
        <p:nvPicPr>
          <p:cNvPr id="21" name="Image 5" descr="./icons/check_white.png"/>
          <p:cNvPicPr>
            <a:picLocks noChangeAspect="1"/>
          </p:cNvPicPr>
          <p:nvPr/>
        </p:nvPicPr>
        <p:blipFill>
          <a:blip r:embed="rId4"/>
          <a:stretch>
            <a:fillRect/>
          </a:stretch>
        </p:blipFill>
        <p:spPr>
          <a:xfrm>
            <a:off x="7909560" y="4370832"/>
            <a:ext cx="146304" cy="146304"/>
          </a:xfrm>
          <a:prstGeom prst="rect">
            <a:avLst/>
          </a:prstGeom>
        </p:spPr>
      </p:pic>
      <p:sp>
        <p:nvSpPr>
          <p:cNvPr id="22" name="Text 13"/>
          <p:cNvSpPr/>
          <p:nvPr/>
        </p:nvSpPr>
        <p:spPr>
          <a:xfrm>
            <a:off x="8138160" y="4343400"/>
            <a:ext cx="3383280" cy="411480"/>
          </a:xfrm>
          <a:prstGeom prst="rect">
            <a:avLst/>
          </a:prstGeom>
          <a:noFill/>
          <a:ln/>
        </p:spPr>
        <p:txBody>
          <a:bodyPr wrap="square" lIns="0" tIns="0" rIns="0" bIns="0" rtlCol="0" anchor="ctr"/>
          <a:lstStyle/>
          <a:p>
            <a:pPr marL="0" indent="0">
              <a:lnSpc>
                <a:spcPct val="115000"/>
              </a:lnSpc>
              <a:buNone/>
            </a:pPr>
            <a:r>
              <a:rPr lang="en-US" sz="950" dirty="0">
                <a:solidFill>
                  <a:srgbClr val="D5DAEF"/>
                </a:solidFill>
                <a:latin typeface="Calibri" pitchFamily="34" charset="0"/>
                <a:ea typeface="Calibri" pitchFamily="34" charset="-122"/>
                <a:cs typeface="Calibri" pitchFamily="34" charset="-120"/>
              </a:rPr>
              <a:t>Gemini multimodal CSV/spreadsheet insights</a:t>
            </a:r>
            <a:endParaRPr lang="en-US" sz="950" dirty="0"/>
          </a:p>
        </p:txBody>
      </p:sp>
      <p:pic>
        <p:nvPicPr>
          <p:cNvPr id="23" name="Image 6" descr="./icons/check_white.png"/>
          <p:cNvPicPr>
            <a:picLocks noChangeAspect="1"/>
          </p:cNvPicPr>
          <p:nvPr/>
        </p:nvPicPr>
        <p:blipFill>
          <a:blip r:embed="rId4"/>
          <a:stretch>
            <a:fillRect/>
          </a:stretch>
        </p:blipFill>
        <p:spPr>
          <a:xfrm>
            <a:off x="7909560" y="4828032"/>
            <a:ext cx="146304" cy="146304"/>
          </a:xfrm>
          <a:prstGeom prst="rect">
            <a:avLst/>
          </a:prstGeom>
        </p:spPr>
      </p:pic>
      <p:sp>
        <p:nvSpPr>
          <p:cNvPr id="24" name="Text 14"/>
          <p:cNvSpPr/>
          <p:nvPr/>
        </p:nvSpPr>
        <p:spPr>
          <a:xfrm>
            <a:off x="8138160" y="4800600"/>
            <a:ext cx="3383280" cy="411480"/>
          </a:xfrm>
          <a:prstGeom prst="rect">
            <a:avLst/>
          </a:prstGeom>
          <a:noFill/>
          <a:ln/>
        </p:spPr>
        <p:txBody>
          <a:bodyPr wrap="square" lIns="0" tIns="0" rIns="0" bIns="0" rtlCol="0" anchor="ctr"/>
          <a:lstStyle/>
          <a:p>
            <a:pPr marL="0" indent="0">
              <a:lnSpc>
                <a:spcPct val="115000"/>
              </a:lnSpc>
              <a:buNone/>
            </a:pPr>
            <a:r>
              <a:rPr lang="en-US" sz="950" dirty="0">
                <a:solidFill>
                  <a:srgbClr val="D5DAEF"/>
                </a:solidFill>
                <a:latin typeface="Calibri" pitchFamily="34" charset="0"/>
                <a:ea typeface="Calibri" pitchFamily="34" charset="-122"/>
                <a:cs typeface="Calibri" pitchFamily="34" charset="-120"/>
              </a:rPr>
              <a:t>Multi-model routing per task type</a:t>
            </a:r>
            <a:endParaRPr lang="en-US" sz="950" dirty="0"/>
          </a:p>
        </p:txBody>
      </p:sp>
      <p:pic>
        <p:nvPicPr>
          <p:cNvPr id="25" name="Image 7" descr="./icons/arrow_left_white.png">
            <a:hlinkClick r:id="rId5" action="ppaction://hlinksldjump"/>
          </p:cNvPr>
          <p:cNvPicPr>
            <a:picLocks noChangeAspect="1"/>
          </p:cNvPicPr>
          <p:nvPr/>
        </p:nvPicPr>
        <p:blipFill>
          <a:blip r:embed="rId6"/>
          <a:stretch>
            <a:fillRect/>
          </a:stretch>
        </p:blipFill>
        <p:spPr>
          <a:xfrm>
            <a:off x="548640" y="6382512"/>
            <a:ext cx="201168" cy="201168"/>
          </a:xfrm>
          <a:prstGeom prst="rect">
            <a:avLst/>
          </a:prstGeom>
        </p:spPr>
      </p:pic>
      <p:sp>
        <p:nvSpPr>
          <p:cNvPr id="26" name="Shape 15">
            <a:hlinkClick r:id="rId5" action="ppaction://hlinksldjump"/>
          </p:cNvPr>
          <p:cNvSpPr/>
          <p:nvPr/>
        </p:nvSpPr>
        <p:spPr>
          <a:xfrm>
            <a:off x="548640" y="6355080"/>
            <a:ext cx="2377440" cy="365760"/>
          </a:xfrm>
          <a:prstGeom prst="rect">
            <a:avLst/>
          </a:prstGeom>
          <a:solidFill>
            <a:srgbClr val="14213D">
              <a:alpha val="0"/>
            </a:srgbClr>
          </a:solidFill>
          <a:ln/>
        </p:spPr>
      </p:sp>
      <p:sp>
        <p:nvSpPr>
          <p:cNvPr id="27" name="Text 16">
            <a:hlinkClick r:id="rId5" action="ppaction://hlinksldjump"/>
          </p:cNvPr>
          <p:cNvSpPr/>
          <p:nvPr/>
        </p:nvSpPr>
        <p:spPr>
          <a:xfrm>
            <a:off x="841248" y="6355080"/>
            <a:ext cx="2377440" cy="365760"/>
          </a:xfrm>
          <a:prstGeom prst="rect">
            <a:avLst/>
          </a:prstGeom>
          <a:noFill/>
          <a:ln/>
        </p:spPr>
        <p:txBody>
          <a:bodyPr wrap="square" lIns="0" tIns="0" rIns="0" bIns="0" rtlCol="0" anchor="ctr"/>
          <a:lstStyle/>
          <a:p>
            <a:pPr marL="0" indent="0">
              <a:buNone/>
            </a:pPr>
            <a:r>
              <a:rPr lang="en-US" sz="1100" b="1" u="sng" dirty="0">
                <a:solidFill>
                  <a:srgbClr val="14213D"/>
                </a:solidFill>
                <a:latin typeface="Calibri" pitchFamily="34" charset="0"/>
                <a:ea typeface="Calibri" pitchFamily="34" charset="-122"/>
                <a:cs typeface="Calibri" pitchFamily="34" charset="-120"/>
                <a:hlinkClick r:id="rId5" action="ppaction://hlinksldjump">
                  <a:extLst>
                    <a:ext uri="{A12FA001-AC4F-418D-AE19-62706E023703}">
                      <ahyp:hlinkClr xmlns:ahyp="http://schemas.microsoft.com/office/drawing/2018/hyperlinkcolor" val="tx"/>
                    </a:ext>
                  </a:extLst>
                </a:hlinkClick>
              </a:rPr>
              <a:t>BACK TO REVIEW BOARD</a:t>
            </a:r>
            <a:endParaRPr lang="en-US" sz="1100" dirty="0"/>
          </a:p>
        </p:txBody>
      </p:sp>
      <p:sp>
        <p:nvSpPr>
          <p:cNvPr id="28" name="Text 17"/>
          <p:cNvSpPr/>
          <p:nvPr/>
        </p:nvSpPr>
        <p:spPr>
          <a:xfrm>
            <a:off x="8595360" y="6382512"/>
            <a:ext cx="3017520" cy="274320"/>
          </a:xfrm>
          <a:prstGeom prst="rect">
            <a:avLst/>
          </a:prstGeom>
          <a:noFill/>
          <a:ln/>
        </p:spPr>
        <p:txBody>
          <a:bodyPr wrap="square" lIns="0" tIns="0" rIns="0" bIns="0" rtlCol="0" anchor="ctr"/>
          <a:lstStyle/>
          <a:p>
            <a:pPr marL="0" indent="0" algn="r">
              <a:buNone/>
            </a:pPr>
            <a:r>
              <a:rPr lang="en-US" sz="1000" dirty="0">
                <a:solidFill>
                  <a:srgbClr val="A6B0C8"/>
                </a:solidFill>
                <a:latin typeface="Calibri" pitchFamily="34" charset="0"/>
                <a:ea typeface="Calibri" pitchFamily="34" charset="-122"/>
                <a:cs typeface="Calibri" pitchFamily="34" charset="-120"/>
              </a:rPr>
              <a:t>Cadence Review · AI Layer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E05C2A"/>
                </a:solidFill>
                <a:latin typeface="Calibri" pitchFamily="34" charset="0"/>
                <a:ea typeface="Calibri" pitchFamily="34" charset="-122"/>
                <a:cs typeface="Calibri" pitchFamily="34" charset="-120"/>
              </a:rPr>
              <a:t>SECTION 05 · REVIEWED BY THEORIONGD</a:t>
            </a:r>
            <a:endParaRPr lang="en-US" sz="1200" dirty="0"/>
          </a:p>
        </p:txBody>
      </p:sp>
      <p:sp>
        <p:nvSpPr>
          <p:cNvPr id="3" name="Text 1"/>
          <p:cNvSpPr/>
          <p:nvPr/>
        </p:nvSpPr>
        <p:spPr>
          <a:xfrm>
            <a:off x="548640" y="640080"/>
            <a:ext cx="9601200" cy="64008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Signature Features</a:t>
            </a:r>
            <a:endParaRPr lang="en-US" sz="2800" dirty="0"/>
          </a:p>
        </p:txBody>
      </p:sp>
      <p:sp>
        <p:nvSpPr>
          <p:cNvPr id="4" name="Text 2"/>
          <p:cNvSpPr/>
          <p:nvPr/>
        </p:nvSpPr>
        <p:spPr>
          <a:xfrm>
            <a:off x="548640" y="1371600"/>
            <a:ext cx="10607040" cy="320040"/>
          </a:xfrm>
          <a:prstGeom prst="rect">
            <a:avLst/>
          </a:prstGeom>
          <a:noFill/>
          <a:ln/>
        </p:spPr>
        <p:txBody>
          <a:bodyPr wrap="square" lIns="0" tIns="0" rIns="0" bIns="0" rtlCol="0" anchor="ctr"/>
          <a:lstStyle/>
          <a:p>
            <a:pPr marL="0" indent="0">
              <a:buNone/>
            </a:pPr>
            <a:r>
              <a:rPr lang="en-US" sz="1250" dirty="0">
                <a:solidFill>
                  <a:srgbClr val="2C355C"/>
                </a:solidFill>
                <a:latin typeface="Calibri" pitchFamily="34" charset="0"/>
                <a:ea typeface="Calibri" pitchFamily="34" charset="-122"/>
                <a:cs typeface="Calibri" pitchFamily="34" charset="-120"/>
              </a:rPr>
              <a:t>Two exclusive capabilities differentiate Cadence from standard project-management tools.</a:t>
            </a:r>
            <a:endParaRPr lang="en-US" sz="1250" dirty="0"/>
          </a:p>
        </p:txBody>
      </p:sp>
      <p:sp>
        <p:nvSpPr>
          <p:cNvPr id="5" name="Shape 3"/>
          <p:cNvSpPr/>
          <p:nvPr/>
        </p:nvSpPr>
        <p:spPr>
          <a:xfrm>
            <a:off x="548640" y="1828800"/>
            <a:ext cx="5212080" cy="4023360"/>
          </a:xfrm>
          <a:prstGeom prst="roundRect">
            <a:avLst>
              <a:gd name="adj" fmla="val 2273"/>
            </a:avLst>
          </a:prstGeom>
          <a:solidFill>
            <a:srgbClr val="EDF2FB"/>
          </a:solidFill>
          <a:ln/>
          <a:effectLst>
            <a:outerShdw blurRad="76200" dist="25400" dir="2700000" algn="bl" rotWithShape="0">
              <a:srgbClr val="000000">
                <a:alpha val="10000"/>
              </a:srgbClr>
            </a:outerShdw>
          </a:effectLst>
        </p:spPr>
      </p:sp>
      <p:sp>
        <p:nvSpPr>
          <p:cNvPr id="6" name="Shape 4"/>
          <p:cNvSpPr/>
          <p:nvPr/>
        </p:nvSpPr>
        <p:spPr>
          <a:xfrm>
            <a:off x="777240" y="2029968"/>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7" name="Image 0" descr="./icons/star_dark.png"/>
          <p:cNvPicPr>
            <a:picLocks noChangeAspect="1"/>
          </p:cNvPicPr>
          <p:nvPr/>
        </p:nvPicPr>
        <p:blipFill>
          <a:blip r:embed="rId3"/>
          <a:stretch>
            <a:fillRect/>
          </a:stretch>
        </p:blipFill>
        <p:spPr>
          <a:xfrm>
            <a:off x="907999" y="2160727"/>
            <a:ext cx="241402" cy="241402"/>
          </a:xfrm>
          <a:prstGeom prst="rect">
            <a:avLst/>
          </a:prstGeom>
        </p:spPr>
      </p:pic>
      <p:sp>
        <p:nvSpPr>
          <p:cNvPr id="8" name="Text 5"/>
          <p:cNvSpPr/>
          <p:nvPr/>
        </p:nvSpPr>
        <p:spPr>
          <a:xfrm>
            <a:off x="1371600" y="1993392"/>
            <a:ext cx="4206240" cy="548640"/>
          </a:xfrm>
          <a:prstGeom prst="rect">
            <a:avLst/>
          </a:prstGeom>
          <a:noFill/>
          <a:ln/>
        </p:spPr>
        <p:txBody>
          <a:bodyPr wrap="square" lIns="0" tIns="0" rIns="0" bIns="0" rtlCol="0" anchor="ctr"/>
          <a:lstStyle/>
          <a:p>
            <a:pPr marL="0" indent="0">
              <a:buNone/>
            </a:pPr>
            <a:r>
              <a:rPr lang="en-US" sz="1350" b="1" dirty="0">
                <a:solidFill>
                  <a:srgbClr val="14213D"/>
                </a:solidFill>
                <a:latin typeface="Calibri" pitchFamily="34" charset="0"/>
                <a:ea typeface="Calibri" pitchFamily="34" charset="-122"/>
                <a:cs typeface="Calibri" pitchFamily="34" charset="-120"/>
              </a:rPr>
              <a:t>Skill-Based Auto Task Assignment</a:t>
            </a:r>
            <a:endParaRPr lang="en-US" sz="1350" dirty="0"/>
          </a:p>
        </p:txBody>
      </p:sp>
      <p:pic>
        <p:nvPicPr>
          <p:cNvPr id="9" name="Image 1" descr="./icons/check_dark.png"/>
          <p:cNvPicPr>
            <a:picLocks noChangeAspect="1"/>
          </p:cNvPicPr>
          <p:nvPr/>
        </p:nvPicPr>
        <p:blipFill>
          <a:blip r:embed="rId4"/>
          <a:stretch>
            <a:fillRect/>
          </a:stretch>
        </p:blipFill>
        <p:spPr>
          <a:xfrm>
            <a:off x="777240" y="2715768"/>
            <a:ext cx="164592" cy="164592"/>
          </a:xfrm>
          <a:prstGeom prst="rect">
            <a:avLst/>
          </a:prstGeom>
        </p:spPr>
      </p:pic>
      <p:sp>
        <p:nvSpPr>
          <p:cNvPr id="10" name="Text 6"/>
          <p:cNvSpPr/>
          <p:nvPr/>
        </p:nvSpPr>
        <p:spPr>
          <a:xfrm>
            <a:off x="1051560" y="2697480"/>
            <a:ext cx="4526280" cy="502920"/>
          </a:xfrm>
          <a:prstGeom prst="rect">
            <a:avLst/>
          </a:prstGeom>
          <a:noFill/>
          <a:ln/>
        </p:spPr>
        <p:txBody>
          <a:bodyPr wrap="square" lIns="0" tIns="0" rIns="0" bIns="0" rtlCol="0" anchor="ctr"/>
          <a:lstStyle/>
          <a:p>
            <a:pPr marL="0" indent="0">
              <a:lnSpc>
                <a:spcPct val="120000"/>
              </a:lnSpc>
              <a:buNone/>
            </a:pPr>
            <a:r>
              <a:rPr lang="en-US" sz="1050" dirty="0">
                <a:solidFill>
                  <a:srgbClr val="5C6B8A"/>
                </a:solidFill>
                <a:latin typeface="Calibri" pitchFamily="34" charset="0"/>
                <a:ea typeface="Calibri" pitchFamily="34" charset="-122"/>
                <a:cs typeface="Calibri" pitchFamily="34" charset="-120"/>
              </a:rPr>
              <a:t>File ingestion — CSV/Excel parsed into row/sheet-level work units</a:t>
            </a:r>
            <a:endParaRPr lang="en-US" sz="1050" dirty="0"/>
          </a:p>
        </p:txBody>
      </p:sp>
      <p:pic>
        <p:nvPicPr>
          <p:cNvPr id="11" name="Image 2" descr="./icons/check_dark.png"/>
          <p:cNvPicPr>
            <a:picLocks noChangeAspect="1"/>
          </p:cNvPicPr>
          <p:nvPr/>
        </p:nvPicPr>
        <p:blipFill>
          <a:blip r:embed="rId4"/>
          <a:stretch>
            <a:fillRect/>
          </a:stretch>
        </p:blipFill>
        <p:spPr>
          <a:xfrm>
            <a:off x="777240" y="3282696"/>
            <a:ext cx="164592" cy="164592"/>
          </a:xfrm>
          <a:prstGeom prst="rect">
            <a:avLst/>
          </a:prstGeom>
        </p:spPr>
      </p:pic>
      <p:sp>
        <p:nvSpPr>
          <p:cNvPr id="12" name="Text 7"/>
          <p:cNvSpPr/>
          <p:nvPr/>
        </p:nvSpPr>
        <p:spPr>
          <a:xfrm>
            <a:off x="1051560" y="3264408"/>
            <a:ext cx="4526280" cy="502920"/>
          </a:xfrm>
          <a:prstGeom prst="rect">
            <a:avLst/>
          </a:prstGeom>
          <a:noFill/>
          <a:ln/>
        </p:spPr>
        <p:txBody>
          <a:bodyPr wrap="square" lIns="0" tIns="0" rIns="0" bIns="0" rtlCol="0" anchor="ctr"/>
          <a:lstStyle/>
          <a:p>
            <a:pPr marL="0" indent="0">
              <a:lnSpc>
                <a:spcPct val="120000"/>
              </a:lnSpc>
              <a:buNone/>
            </a:pPr>
            <a:r>
              <a:rPr lang="en-US" sz="1050" dirty="0">
                <a:solidFill>
                  <a:srgbClr val="5C6B8A"/>
                </a:solidFill>
                <a:latin typeface="Calibri" pitchFamily="34" charset="0"/>
                <a:ea typeface="Calibri" pitchFamily="34" charset="-122"/>
                <a:cs typeface="Calibri" pitchFamily="34" charset="-120"/>
              </a:rPr>
              <a:t>Per-member Skill Score by task category (speed, accuracy, ratings)</a:t>
            </a:r>
            <a:endParaRPr lang="en-US" sz="1050" dirty="0"/>
          </a:p>
        </p:txBody>
      </p:sp>
      <p:pic>
        <p:nvPicPr>
          <p:cNvPr id="13" name="Image 3" descr="./icons/check_dark.png"/>
          <p:cNvPicPr>
            <a:picLocks noChangeAspect="1"/>
          </p:cNvPicPr>
          <p:nvPr/>
        </p:nvPicPr>
        <p:blipFill>
          <a:blip r:embed="rId4"/>
          <a:stretch>
            <a:fillRect/>
          </a:stretch>
        </p:blipFill>
        <p:spPr>
          <a:xfrm>
            <a:off x="777240" y="3849624"/>
            <a:ext cx="164592" cy="164592"/>
          </a:xfrm>
          <a:prstGeom prst="rect">
            <a:avLst/>
          </a:prstGeom>
        </p:spPr>
      </p:pic>
      <p:sp>
        <p:nvSpPr>
          <p:cNvPr id="14" name="Text 8"/>
          <p:cNvSpPr/>
          <p:nvPr/>
        </p:nvSpPr>
        <p:spPr>
          <a:xfrm>
            <a:off x="1051560" y="3831336"/>
            <a:ext cx="4526280" cy="502920"/>
          </a:xfrm>
          <a:prstGeom prst="rect">
            <a:avLst/>
          </a:prstGeom>
          <a:noFill/>
          <a:ln/>
        </p:spPr>
        <p:txBody>
          <a:bodyPr wrap="square" lIns="0" tIns="0" rIns="0" bIns="0" rtlCol="0" anchor="ctr"/>
          <a:lstStyle/>
          <a:p>
            <a:pPr marL="0" indent="0">
              <a:lnSpc>
                <a:spcPct val="120000"/>
              </a:lnSpc>
              <a:buNone/>
            </a:pPr>
            <a:r>
              <a:rPr lang="en-US" sz="1050" dirty="0">
                <a:solidFill>
                  <a:srgbClr val="5C6B8A"/>
                </a:solidFill>
                <a:latin typeface="Calibri" pitchFamily="34" charset="0"/>
                <a:ea typeface="Calibri" pitchFamily="34" charset="-122"/>
                <a:cs typeface="Calibri" pitchFamily="34" charset="-120"/>
              </a:rPr>
              <a:t>Weighted auto-assignment factoring skill, workload, turnaround</a:t>
            </a:r>
            <a:endParaRPr lang="en-US" sz="1050" dirty="0"/>
          </a:p>
        </p:txBody>
      </p:sp>
      <p:pic>
        <p:nvPicPr>
          <p:cNvPr id="15" name="Image 4" descr="./icons/check_dark.png"/>
          <p:cNvPicPr>
            <a:picLocks noChangeAspect="1"/>
          </p:cNvPicPr>
          <p:nvPr/>
        </p:nvPicPr>
        <p:blipFill>
          <a:blip r:embed="rId4"/>
          <a:stretch>
            <a:fillRect/>
          </a:stretch>
        </p:blipFill>
        <p:spPr>
          <a:xfrm>
            <a:off x="777240" y="4416552"/>
            <a:ext cx="164592" cy="164592"/>
          </a:xfrm>
          <a:prstGeom prst="rect">
            <a:avLst/>
          </a:prstGeom>
        </p:spPr>
      </p:pic>
      <p:sp>
        <p:nvSpPr>
          <p:cNvPr id="16" name="Text 9"/>
          <p:cNvSpPr/>
          <p:nvPr/>
        </p:nvSpPr>
        <p:spPr>
          <a:xfrm>
            <a:off x="1051560" y="4398264"/>
            <a:ext cx="4526280" cy="502920"/>
          </a:xfrm>
          <a:prstGeom prst="rect">
            <a:avLst/>
          </a:prstGeom>
          <a:noFill/>
          <a:ln/>
        </p:spPr>
        <p:txBody>
          <a:bodyPr wrap="square" lIns="0" tIns="0" rIns="0" bIns="0" rtlCol="0" anchor="ctr"/>
          <a:lstStyle/>
          <a:p>
            <a:pPr marL="0" indent="0">
              <a:lnSpc>
                <a:spcPct val="120000"/>
              </a:lnSpc>
              <a:buNone/>
            </a:pPr>
            <a:r>
              <a:rPr lang="en-US" sz="1050" dirty="0">
                <a:solidFill>
                  <a:srgbClr val="5C6B8A"/>
                </a:solidFill>
                <a:latin typeface="Calibri" pitchFamily="34" charset="0"/>
                <a:ea typeface="Calibri" pitchFamily="34" charset="-122"/>
                <a:cs typeface="Calibri" pitchFamily="34" charset="-120"/>
              </a:rPr>
              <a:t>Real-time reassignment the moment a member completes a unit</a:t>
            </a:r>
            <a:endParaRPr lang="en-US" sz="1050" dirty="0"/>
          </a:p>
        </p:txBody>
      </p:sp>
      <p:pic>
        <p:nvPicPr>
          <p:cNvPr id="17" name="Image 5" descr="./icons/check_dark.png"/>
          <p:cNvPicPr>
            <a:picLocks noChangeAspect="1"/>
          </p:cNvPicPr>
          <p:nvPr/>
        </p:nvPicPr>
        <p:blipFill>
          <a:blip r:embed="rId4"/>
          <a:stretch>
            <a:fillRect/>
          </a:stretch>
        </p:blipFill>
        <p:spPr>
          <a:xfrm>
            <a:off x="777240" y="4983480"/>
            <a:ext cx="164592" cy="164592"/>
          </a:xfrm>
          <a:prstGeom prst="rect">
            <a:avLst/>
          </a:prstGeom>
        </p:spPr>
      </p:pic>
      <p:sp>
        <p:nvSpPr>
          <p:cNvPr id="18" name="Text 10"/>
          <p:cNvSpPr/>
          <p:nvPr/>
        </p:nvSpPr>
        <p:spPr>
          <a:xfrm>
            <a:off x="1051560" y="4965192"/>
            <a:ext cx="4526280" cy="502920"/>
          </a:xfrm>
          <a:prstGeom prst="rect">
            <a:avLst/>
          </a:prstGeom>
          <a:noFill/>
          <a:ln/>
        </p:spPr>
        <p:txBody>
          <a:bodyPr wrap="square" lIns="0" tIns="0" rIns="0" bIns="0" rtlCol="0" anchor="ctr"/>
          <a:lstStyle/>
          <a:p>
            <a:pPr marL="0" indent="0">
              <a:lnSpc>
                <a:spcPct val="120000"/>
              </a:lnSpc>
              <a:buNone/>
            </a:pPr>
            <a:r>
              <a:rPr lang="en-US" sz="1050" dirty="0">
                <a:solidFill>
                  <a:srgbClr val="5C6B8A"/>
                </a:solidFill>
                <a:latin typeface="Calibri" pitchFamily="34" charset="0"/>
                <a:ea typeface="Calibri" pitchFamily="34" charset="-122"/>
                <a:cs typeface="Calibri" pitchFamily="34" charset="-120"/>
              </a:rPr>
              <a:t>Productivity Leveling — 5 levels from Contributor to Workspace MVP</a:t>
            </a:r>
            <a:endParaRPr lang="en-US" sz="1050" dirty="0"/>
          </a:p>
        </p:txBody>
      </p:sp>
      <p:sp>
        <p:nvSpPr>
          <p:cNvPr id="19" name="Shape 11"/>
          <p:cNvSpPr/>
          <p:nvPr/>
        </p:nvSpPr>
        <p:spPr>
          <a:xfrm>
            <a:off x="5943600" y="1828800"/>
            <a:ext cx="5532120" cy="4023360"/>
          </a:xfrm>
          <a:prstGeom prst="roundRect">
            <a:avLst>
              <a:gd name="adj" fmla="val 2273"/>
            </a:avLst>
          </a:prstGeom>
          <a:solidFill>
            <a:srgbClr val="14213D"/>
          </a:solidFill>
          <a:ln/>
          <a:effectLst>
            <a:outerShdw blurRad="101600" dist="38100" dir="2700000" algn="bl" rotWithShape="0">
              <a:srgbClr val="000000">
                <a:alpha val="18000"/>
              </a:srgbClr>
            </a:outerShdw>
          </a:effectLst>
        </p:spPr>
      </p:sp>
      <p:sp>
        <p:nvSpPr>
          <p:cNvPr id="20" name="Shape 12"/>
          <p:cNvSpPr/>
          <p:nvPr/>
        </p:nvSpPr>
        <p:spPr>
          <a:xfrm>
            <a:off x="6172200" y="2029968"/>
            <a:ext cx="502920" cy="502920"/>
          </a:xfrm>
          <a:prstGeom prst="ellipse">
            <a:avLst/>
          </a:prstGeom>
          <a:solidFill>
            <a:srgbClr val="3A4A8C"/>
          </a:solidFill>
          <a:ln/>
          <a:effectLst>
            <a:outerShdw blurRad="76200" dist="25400" dir="2700000" algn="bl" rotWithShape="0">
              <a:srgbClr val="000000">
                <a:alpha val="10000"/>
              </a:srgbClr>
            </a:outerShdw>
          </a:effectLst>
        </p:spPr>
      </p:sp>
      <p:pic>
        <p:nvPicPr>
          <p:cNvPr id="21" name="Image 6" descr="./icons/bolt_white.png"/>
          <p:cNvPicPr>
            <a:picLocks noChangeAspect="1"/>
          </p:cNvPicPr>
          <p:nvPr/>
        </p:nvPicPr>
        <p:blipFill>
          <a:blip r:embed="rId5"/>
          <a:stretch>
            <a:fillRect/>
          </a:stretch>
        </p:blipFill>
        <p:spPr>
          <a:xfrm>
            <a:off x="6302959" y="2160727"/>
            <a:ext cx="241402" cy="241402"/>
          </a:xfrm>
          <a:prstGeom prst="rect">
            <a:avLst/>
          </a:prstGeom>
        </p:spPr>
      </p:pic>
      <p:sp>
        <p:nvSpPr>
          <p:cNvPr id="22" name="Text 13"/>
          <p:cNvSpPr/>
          <p:nvPr/>
        </p:nvSpPr>
        <p:spPr>
          <a:xfrm>
            <a:off x="6766560" y="1993392"/>
            <a:ext cx="448056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Autonomous Work Orchestration</a:t>
            </a:r>
            <a:endParaRPr lang="en-US" sz="1350" dirty="0"/>
          </a:p>
        </p:txBody>
      </p:sp>
      <p:sp>
        <p:nvSpPr>
          <p:cNvPr id="23" name="Text 14"/>
          <p:cNvSpPr/>
          <p:nvPr/>
        </p:nvSpPr>
        <p:spPr>
          <a:xfrm>
            <a:off x="6766560" y="2331720"/>
            <a:ext cx="4480560" cy="228600"/>
          </a:xfrm>
          <a:prstGeom prst="rect">
            <a:avLst/>
          </a:prstGeom>
          <a:noFill/>
          <a:ln/>
        </p:spPr>
        <p:txBody>
          <a:bodyPr wrap="square" lIns="0" tIns="0" rIns="0" bIns="0" rtlCol="0" anchor="ctr"/>
          <a:lstStyle/>
          <a:p>
            <a:pPr marL="0" indent="0">
              <a:buNone/>
            </a:pPr>
            <a:r>
              <a:rPr lang="en-US" sz="900" b="1" kern="0" spc="100" dirty="0">
                <a:solidFill>
                  <a:srgbClr val="E05C2A"/>
                </a:solidFill>
                <a:latin typeface="Calibri" pitchFamily="34" charset="0"/>
                <a:ea typeface="Calibri" pitchFamily="34" charset="-122"/>
                <a:cs typeface="Calibri" pitchFamily="34" charset="-120"/>
              </a:rPr>
              <a:t>PREMIUM / ENTERPRISE</a:t>
            </a:r>
            <a:endParaRPr lang="en-US" sz="900" dirty="0"/>
          </a:p>
        </p:txBody>
      </p:sp>
      <p:pic>
        <p:nvPicPr>
          <p:cNvPr id="24" name="Image 7" descr="./icons/check_white.png"/>
          <p:cNvPicPr>
            <a:picLocks noChangeAspect="1"/>
          </p:cNvPicPr>
          <p:nvPr/>
        </p:nvPicPr>
        <p:blipFill>
          <a:blip r:embed="rId6"/>
          <a:stretch>
            <a:fillRect/>
          </a:stretch>
        </p:blipFill>
        <p:spPr>
          <a:xfrm>
            <a:off x="6172200" y="2715768"/>
            <a:ext cx="164592" cy="164592"/>
          </a:xfrm>
          <a:prstGeom prst="rect">
            <a:avLst/>
          </a:prstGeom>
        </p:spPr>
      </p:pic>
      <p:sp>
        <p:nvSpPr>
          <p:cNvPr id="25" name="Text 15"/>
          <p:cNvSpPr/>
          <p:nvPr/>
        </p:nvSpPr>
        <p:spPr>
          <a:xfrm>
            <a:off x="6446520" y="2697480"/>
            <a:ext cx="4846320" cy="457200"/>
          </a:xfrm>
          <a:prstGeom prst="rect">
            <a:avLst/>
          </a:prstGeom>
          <a:noFill/>
          <a:ln/>
        </p:spPr>
        <p:txBody>
          <a:bodyPr wrap="square" lIns="0" tIns="0" rIns="0" bIns="0" rtlCol="0" anchor="ctr"/>
          <a:lstStyle/>
          <a:p>
            <a:pPr marL="0" indent="0">
              <a:lnSpc>
                <a:spcPct val="118000"/>
              </a:lnSpc>
              <a:buNone/>
            </a:pPr>
            <a:r>
              <a:rPr lang="en-US" sz="1000" dirty="0">
                <a:solidFill>
                  <a:srgbClr val="D5DAEF"/>
                </a:solidFill>
                <a:latin typeface="Calibri" pitchFamily="34" charset="0"/>
                <a:ea typeface="Calibri" pitchFamily="34" charset="-122"/>
                <a:cs typeface="Calibri" pitchFamily="34" charset="-120"/>
              </a:rPr>
              <a:t>Continuous Reallocation — silently rebalances work mid-flight</a:t>
            </a:r>
            <a:endParaRPr lang="en-US" sz="1000" dirty="0"/>
          </a:p>
        </p:txBody>
      </p:sp>
      <p:pic>
        <p:nvPicPr>
          <p:cNvPr id="26" name="Image 8" descr="./icons/check_white.png"/>
          <p:cNvPicPr>
            <a:picLocks noChangeAspect="1"/>
          </p:cNvPicPr>
          <p:nvPr/>
        </p:nvPicPr>
        <p:blipFill>
          <a:blip r:embed="rId6"/>
          <a:stretch>
            <a:fillRect/>
          </a:stretch>
        </p:blipFill>
        <p:spPr>
          <a:xfrm>
            <a:off x="6172200" y="3246120"/>
            <a:ext cx="164592" cy="164592"/>
          </a:xfrm>
          <a:prstGeom prst="rect">
            <a:avLst/>
          </a:prstGeom>
        </p:spPr>
      </p:pic>
      <p:sp>
        <p:nvSpPr>
          <p:cNvPr id="27" name="Text 16"/>
          <p:cNvSpPr/>
          <p:nvPr/>
        </p:nvSpPr>
        <p:spPr>
          <a:xfrm>
            <a:off x="6446520" y="3227832"/>
            <a:ext cx="4846320" cy="457200"/>
          </a:xfrm>
          <a:prstGeom prst="rect">
            <a:avLst/>
          </a:prstGeom>
          <a:noFill/>
          <a:ln/>
        </p:spPr>
        <p:txBody>
          <a:bodyPr wrap="square" lIns="0" tIns="0" rIns="0" bIns="0" rtlCol="0" anchor="ctr"/>
          <a:lstStyle/>
          <a:p>
            <a:pPr marL="0" indent="0">
              <a:lnSpc>
                <a:spcPct val="118000"/>
              </a:lnSpc>
              <a:buNone/>
            </a:pPr>
            <a:r>
              <a:rPr lang="en-US" sz="1000" dirty="0">
                <a:solidFill>
                  <a:srgbClr val="D5DAEF"/>
                </a:solidFill>
                <a:latin typeface="Calibri" pitchFamily="34" charset="0"/>
                <a:ea typeface="Calibri" pitchFamily="34" charset="-122"/>
                <a:cs typeface="Calibri" pitchFamily="34" charset="-120"/>
              </a:rPr>
              <a:t>Predictive Completion Engine — forecast + confidence + risk level</a:t>
            </a:r>
            <a:endParaRPr lang="en-US" sz="1000" dirty="0"/>
          </a:p>
        </p:txBody>
      </p:sp>
      <p:pic>
        <p:nvPicPr>
          <p:cNvPr id="28" name="Image 9" descr="./icons/check_white.png"/>
          <p:cNvPicPr>
            <a:picLocks noChangeAspect="1"/>
          </p:cNvPicPr>
          <p:nvPr/>
        </p:nvPicPr>
        <p:blipFill>
          <a:blip r:embed="rId6"/>
          <a:stretch>
            <a:fillRect/>
          </a:stretch>
        </p:blipFill>
        <p:spPr>
          <a:xfrm>
            <a:off x="6172200" y="3776472"/>
            <a:ext cx="164592" cy="164592"/>
          </a:xfrm>
          <a:prstGeom prst="rect">
            <a:avLst/>
          </a:prstGeom>
        </p:spPr>
      </p:pic>
      <p:sp>
        <p:nvSpPr>
          <p:cNvPr id="29" name="Text 17"/>
          <p:cNvSpPr/>
          <p:nvPr/>
        </p:nvSpPr>
        <p:spPr>
          <a:xfrm>
            <a:off x="6446520" y="3758184"/>
            <a:ext cx="4846320" cy="457200"/>
          </a:xfrm>
          <a:prstGeom prst="rect">
            <a:avLst/>
          </a:prstGeom>
          <a:noFill/>
          <a:ln/>
        </p:spPr>
        <p:txBody>
          <a:bodyPr wrap="square" lIns="0" tIns="0" rIns="0" bIns="0" rtlCol="0" anchor="ctr"/>
          <a:lstStyle/>
          <a:p>
            <a:pPr marL="0" indent="0">
              <a:lnSpc>
                <a:spcPct val="118000"/>
              </a:lnSpc>
              <a:buNone/>
            </a:pPr>
            <a:r>
              <a:rPr lang="en-US" sz="1000" dirty="0">
                <a:solidFill>
                  <a:srgbClr val="D5DAEF"/>
                </a:solidFill>
                <a:latin typeface="Calibri" pitchFamily="34" charset="0"/>
                <a:ea typeface="Calibri" pitchFamily="34" charset="-122"/>
                <a:cs typeface="Calibri" pitchFamily="34" charset="-120"/>
              </a:rPr>
              <a:t>AI Bottleneck Detection — diagnoses slowdowns, proposes fixes</a:t>
            </a:r>
            <a:endParaRPr lang="en-US" sz="1000" dirty="0"/>
          </a:p>
        </p:txBody>
      </p:sp>
      <p:pic>
        <p:nvPicPr>
          <p:cNvPr id="30" name="Image 10" descr="./icons/check_white.png"/>
          <p:cNvPicPr>
            <a:picLocks noChangeAspect="1"/>
          </p:cNvPicPr>
          <p:nvPr/>
        </p:nvPicPr>
        <p:blipFill>
          <a:blip r:embed="rId6"/>
          <a:stretch>
            <a:fillRect/>
          </a:stretch>
        </p:blipFill>
        <p:spPr>
          <a:xfrm>
            <a:off x="6172200" y="4306824"/>
            <a:ext cx="164592" cy="164592"/>
          </a:xfrm>
          <a:prstGeom prst="rect">
            <a:avLst/>
          </a:prstGeom>
        </p:spPr>
      </p:pic>
      <p:sp>
        <p:nvSpPr>
          <p:cNvPr id="31" name="Text 18"/>
          <p:cNvSpPr/>
          <p:nvPr/>
        </p:nvSpPr>
        <p:spPr>
          <a:xfrm>
            <a:off x="6446520" y="4288536"/>
            <a:ext cx="4846320" cy="457200"/>
          </a:xfrm>
          <a:prstGeom prst="rect">
            <a:avLst/>
          </a:prstGeom>
          <a:noFill/>
          <a:ln/>
        </p:spPr>
        <p:txBody>
          <a:bodyPr wrap="square" lIns="0" tIns="0" rIns="0" bIns="0" rtlCol="0" anchor="ctr"/>
          <a:lstStyle/>
          <a:p>
            <a:pPr marL="0" indent="0">
              <a:lnSpc>
                <a:spcPct val="118000"/>
              </a:lnSpc>
              <a:buNone/>
            </a:pPr>
            <a:r>
              <a:rPr lang="en-US" sz="1000" dirty="0">
                <a:solidFill>
                  <a:srgbClr val="D5DAEF"/>
                </a:solidFill>
                <a:latin typeface="Calibri" pitchFamily="34" charset="0"/>
                <a:ea typeface="Calibri" pitchFamily="34" charset="-122"/>
                <a:cs typeface="Calibri" pitchFamily="34" charset="-120"/>
              </a:rPr>
              <a:t>Dynamic Skill Graph — per-category scores updating automatically</a:t>
            </a:r>
            <a:endParaRPr lang="en-US" sz="1000" dirty="0"/>
          </a:p>
        </p:txBody>
      </p:sp>
      <p:pic>
        <p:nvPicPr>
          <p:cNvPr id="32" name="Image 11" descr="./icons/check_white.png"/>
          <p:cNvPicPr>
            <a:picLocks noChangeAspect="1"/>
          </p:cNvPicPr>
          <p:nvPr/>
        </p:nvPicPr>
        <p:blipFill>
          <a:blip r:embed="rId6"/>
          <a:stretch>
            <a:fillRect/>
          </a:stretch>
        </p:blipFill>
        <p:spPr>
          <a:xfrm>
            <a:off x="6172200" y="4837176"/>
            <a:ext cx="164592" cy="164592"/>
          </a:xfrm>
          <a:prstGeom prst="rect">
            <a:avLst/>
          </a:prstGeom>
        </p:spPr>
      </p:pic>
      <p:sp>
        <p:nvSpPr>
          <p:cNvPr id="33" name="Text 19"/>
          <p:cNvSpPr/>
          <p:nvPr/>
        </p:nvSpPr>
        <p:spPr>
          <a:xfrm>
            <a:off x="6446520" y="4818888"/>
            <a:ext cx="4846320" cy="457200"/>
          </a:xfrm>
          <a:prstGeom prst="rect">
            <a:avLst/>
          </a:prstGeom>
          <a:noFill/>
          <a:ln/>
        </p:spPr>
        <p:txBody>
          <a:bodyPr wrap="square" lIns="0" tIns="0" rIns="0" bIns="0" rtlCol="0" anchor="ctr"/>
          <a:lstStyle/>
          <a:p>
            <a:pPr marL="0" indent="0">
              <a:lnSpc>
                <a:spcPct val="118000"/>
              </a:lnSpc>
              <a:buNone/>
            </a:pPr>
            <a:r>
              <a:rPr lang="en-US" sz="1000" dirty="0">
                <a:solidFill>
                  <a:srgbClr val="D5DAEF"/>
                </a:solidFill>
                <a:latin typeface="Calibri" pitchFamily="34" charset="0"/>
                <a:ea typeface="Calibri" pitchFamily="34" charset="-122"/>
                <a:cs typeface="Calibri" pitchFamily="34" charset="-120"/>
              </a:rPr>
              <a:t>Explainable AI — every assignment includes a visible rationale</a:t>
            </a:r>
            <a:endParaRPr lang="en-US" sz="1000" dirty="0"/>
          </a:p>
        </p:txBody>
      </p:sp>
      <p:pic>
        <p:nvPicPr>
          <p:cNvPr id="34" name="Image 12" descr="./icons/check_white.png"/>
          <p:cNvPicPr>
            <a:picLocks noChangeAspect="1"/>
          </p:cNvPicPr>
          <p:nvPr/>
        </p:nvPicPr>
        <p:blipFill>
          <a:blip r:embed="rId6"/>
          <a:stretch>
            <a:fillRect/>
          </a:stretch>
        </p:blipFill>
        <p:spPr>
          <a:xfrm>
            <a:off x="6172200" y="5367528"/>
            <a:ext cx="164592" cy="164592"/>
          </a:xfrm>
          <a:prstGeom prst="rect">
            <a:avLst/>
          </a:prstGeom>
        </p:spPr>
      </p:pic>
      <p:sp>
        <p:nvSpPr>
          <p:cNvPr id="35" name="Text 20"/>
          <p:cNvSpPr/>
          <p:nvPr/>
        </p:nvSpPr>
        <p:spPr>
          <a:xfrm>
            <a:off x="6446520" y="5349240"/>
            <a:ext cx="4846320" cy="457200"/>
          </a:xfrm>
          <a:prstGeom prst="rect">
            <a:avLst/>
          </a:prstGeom>
          <a:noFill/>
          <a:ln/>
        </p:spPr>
        <p:txBody>
          <a:bodyPr wrap="square" lIns="0" tIns="0" rIns="0" bIns="0" rtlCol="0" anchor="ctr"/>
          <a:lstStyle/>
          <a:p>
            <a:pPr marL="0" indent="0">
              <a:lnSpc>
                <a:spcPct val="118000"/>
              </a:lnSpc>
              <a:buNone/>
            </a:pPr>
            <a:r>
              <a:rPr lang="en-US" sz="1000" dirty="0">
                <a:solidFill>
                  <a:srgbClr val="D5DAEF"/>
                </a:solidFill>
                <a:latin typeface="Calibri" pitchFamily="34" charset="0"/>
                <a:ea typeface="Calibri" pitchFamily="34" charset="-122"/>
                <a:cs typeface="Calibri" pitchFamily="34" charset="-120"/>
              </a:rPr>
              <a:t>Digital Twin Simulation — "what if" scenario testing</a:t>
            </a:r>
            <a:endParaRPr lang="en-US" sz="1000" dirty="0"/>
          </a:p>
        </p:txBody>
      </p:sp>
      <p:pic>
        <p:nvPicPr>
          <p:cNvPr id="36" name="Image 13" descr="./icons/arrow_left_white.png">
            <a:hlinkClick r:id="rId7" action="ppaction://hlinksldjump"/>
          </p:cNvPr>
          <p:cNvPicPr>
            <a:picLocks noChangeAspect="1"/>
          </p:cNvPicPr>
          <p:nvPr/>
        </p:nvPicPr>
        <p:blipFill>
          <a:blip r:embed="rId8"/>
          <a:stretch>
            <a:fillRect/>
          </a:stretch>
        </p:blipFill>
        <p:spPr>
          <a:xfrm>
            <a:off x="548640" y="6382512"/>
            <a:ext cx="201168" cy="201168"/>
          </a:xfrm>
          <a:prstGeom prst="rect">
            <a:avLst/>
          </a:prstGeom>
        </p:spPr>
      </p:pic>
      <p:sp>
        <p:nvSpPr>
          <p:cNvPr id="37" name="Shape 21">
            <a:hlinkClick r:id="rId7" action="ppaction://hlinksldjump"/>
          </p:cNvPr>
          <p:cNvSpPr/>
          <p:nvPr/>
        </p:nvSpPr>
        <p:spPr>
          <a:xfrm>
            <a:off x="548640" y="6355080"/>
            <a:ext cx="2377440" cy="365760"/>
          </a:xfrm>
          <a:prstGeom prst="rect">
            <a:avLst/>
          </a:prstGeom>
          <a:solidFill>
            <a:srgbClr val="14213D">
              <a:alpha val="0"/>
            </a:srgbClr>
          </a:solidFill>
          <a:ln/>
        </p:spPr>
      </p:sp>
      <p:sp>
        <p:nvSpPr>
          <p:cNvPr id="38" name="Text 22">
            <a:hlinkClick r:id="rId7" action="ppaction://hlinksldjump"/>
          </p:cNvPr>
          <p:cNvSpPr/>
          <p:nvPr/>
        </p:nvSpPr>
        <p:spPr>
          <a:xfrm>
            <a:off x="841248" y="6355080"/>
            <a:ext cx="2377440" cy="365760"/>
          </a:xfrm>
          <a:prstGeom prst="rect">
            <a:avLst/>
          </a:prstGeom>
          <a:noFill/>
          <a:ln/>
        </p:spPr>
        <p:txBody>
          <a:bodyPr wrap="square" lIns="0" tIns="0" rIns="0" bIns="0" rtlCol="0" anchor="ctr"/>
          <a:lstStyle/>
          <a:p>
            <a:pPr marL="0" indent="0">
              <a:buNone/>
            </a:pPr>
            <a:r>
              <a:rPr lang="en-US" sz="1100" b="1" u="sng" dirty="0">
                <a:solidFill>
                  <a:srgbClr val="14213D"/>
                </a:solidFill>
                <a:latin typeface="Calibri" pitchFamily="34" charset="0"/>
                <a:ea typeface="Calibri" pitchFamily="34" charset="-122"/>
                <a:cs typeface="Calibri" pitchFamily="34" charset="-120"/>
                <a:hlinkClick r:id="rId7" action="ppaction://hlinksldjump">
                  <a:extLst>
                    <a:ext uri="{A12FA001-AC4F-418D-AE19-62706E023703}">
                      <ahyp:hlinkClr xmlns:ahyp="http://schemas.microsoft.com/office/drawing/2018/hyperlinkcolor" val="tx"/>
                    </a:ext>
                  </a:extLst>
                </a:hlinkClick>
              </a:rPr>
              <a:t>BACK TO REVIEW BOARD</a:t>
            </a:r>
            <a:endParaRPr lang="en-US" sz="1100" dirty="0"/>
          </a:p>
        </p:txBody>
      </p:sp>
      <p:sp>
        <p:nvSpPr>
          <p:cNvPr id="39" name="Text 23"/>
          <p:cNvSpPr/>
          <p:nvPr/>
        </p:nvSpPr>
        <p:spPr>
          <a:xfrm>
            <a:off x="8595360" y="6382512"/>
            <a:ext cx="3017520" cy="274320"/>
          </a:xfrm>
          <a:prstGeom prst="rect">
            <a:avLst/>
          </a:prstGeom>
          <a:noFill/>
          <a:ln/>
        </p:spPr>
        <p:txBody>
          <a:bodyPr wrap="square" lIns="0" tIns="0" rIns="0" bIns="0" rtlCol="0" anchor="ctr"/>
          <a:lstStyle/>
          <a:p>
            <a:pPr marL="0" indent="0" algn="r">
              <a:buNone/>
            </a:pPr>
            <a:r>
              <a:rPr lang="en-US" sz="1000" dirty="0">
                <a:solidFill>
                  <a:srgbClr val="A6B0C8"/>
                </a:solidFill>
                <a:latin typeface="Calibri" pitchFamily="34" charset="0"/>
                <a:ea typeface="Calibri" pitchFamily="34" charset="-122"/>
                <a:cs typeface="Calibri" pitchFamily="34" charset="-120"/>
              </a:rPr>
              <a:t>Cadence Review · Signature Features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E05C2A"/>
                </a:solidFill>
                <a:latin typeface="Calibri" pitchFamily="34" charset="0"/>
                <a:ea typeface="Calibri" pitchFamily="34" charset="-122"/>
                <a:cs typeface="Calibri" pitchFamily="34" charset="-120"/>
              </a:rPr>
              <a:t>SECTION 06 · REVIEWED BY THEORIONGD</a:t>
            </a:r>
            <a:endParaRPr lang="en-US" sz="1200" dirty="0"/>
          </a:p>
        </p:txBody>
      </p:sp>
      <p:sp>
        <p:nvSpPr>
          <p:cNvPr id="3" name="Text 1"/>
          <p:cNvSpPr/>
          <p:nvPr/>
        </p:nvSpPr>
        <p:spPr>
          <a:xfrm>
            <a:off x="548640" y="640080"/>
            <a:ext cx="9601200" cy="64008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User Roles &amp; Security</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3840480"/>
        </p:xfrm>
        <a:graphic>
          <a:graphicData uri="http://schemas.openxmlformats.org/drawingml/2006/table">
            <a:tbl>
              <a:tblPr/>
              <a:tblGrid>
                <a:gridCol w="14630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8404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Role</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Permissions</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Super Admin</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Cross-workspace platform administration, infrastructure access</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System Admin</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Agency role — manages multiple client orgs, portfolio oversight</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Owner</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Workspace administration, billing, member management</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Admin</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Delegated workspace management, no billing access</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Manager</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Oversees projects/teams, sets skill profiles, reporting</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Member</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Create, update, and manage assigned tasks</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Contributor</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External/freelance, scoped time-limited access</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Client</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Read + approval access on specific deliverables</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Viewer / Guest</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buNone/>
                      </a:pPr>
                      <a:r>
                        <a:rPr lang="en-US" sz="900" dirty="0">
                          <a:solidFill>
                            <a:srgbClr val="2C355C"/>
                          </a:solidFill>
                          <a:latin typeface="Calibri" pitchFamily="34" charset="0"/>
                          <a:ea typeface="Calibri" pitchFamily="34" charset="-122"/>
                          <a:cs typeface="Calibri" pitchFamily="34" charset="-120"/>
                        </a:rPr>
                        <a:t>Read-only, or temporary link-based single-project access</a:t>
                      </a:r>
                      <a:endParaRPr lang="en-US" sz="90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Shape 2"/>
          <p:cNvSpPr/>
          <p:nvPr/>
        </p:nvSpPr>
        <p:spPr>
          <a:xfrm>
            <a:off x="6812280" y="1417320"/>
            <a:ext cx="4846320" cy="4434840"/>
          </a:xfrm>
          <a:prstGeom prst="roundRect">
            <a:avLst>
              <a:gd name="adj" fmla="val 2062"/>
            </a:avLst>
          </a:prstGeom>
          <a:solidFill>
            <a:srgbClr val="14213D"/>
          </a:solidFill>
          <a:ln/>
          <a:effectLst>
            <a:outerShdw blurRad="101600" dist="38100" dir="2700000" algn="bl" rotWithShape="0">
              <a:srgbClr val="000000">
                <a:alpha val="18000"/>
              </a:srgbClr>
            </a:outerShdw>
          </a:effectLst>
        </p:spPr>
      </p:sp>
      <p:pic>
        <p:nvPicPr>
          <p:cNvPr id="6" name="Image 0" descr="./icons/lock_white.png"/>
          <p:cNvPicPr>
            <a:picLocks noChangeAspect="1"/>
          </p:cNvPicPr>
          <p:nvPr/>
        </p:nvPicPr>
        <p:blipFill>
          <a:blip r:embed="rId3"/>
          <a:stretch>
            <a:fillRect/>
          </a:stretch>
        </p:blipFill>
        <p:spPr>
          <a:xfrm>
            <a:off x="7040880" y="1600200"/>
            <a:ext cx="365760" cy="365760"/>
          </a:xfrm>
          <a:prstGeom prst="rect">
            <a:avLst/>
          </a:prstGeom>
        </p:spPr>
      </p:pic>
      <p:sp>
        <p:nvSpPr>
          <p:cNvPr id="7" name="Text 3"/>
          <p:cNvSpPr/>
          <p:nvPr/>
        </p:nvSpPr>
        <p:spPr>
          <a:xfrm>
            <a:off x="7498080" y="1600200"/>
            <a:ext cx="4023360" cy="365760"/>
          </a:xfrm>
          <a:prstGeom prst="rect">
            <a:avLst/>
          </a:prstGeom>
          <a:noFill/>
          <a:ln/>
        </p:spPr>
        <p:txBody>
          <a:bodyPr wrap="square" lIns="0" tIns="0" rIns="0" bIns="0" rtlCol="0" anchor="ctr"/>
          <a:lstStyle/>
          <a:p>
            <a:pPr marL="0" indent="0">
              <a:buNone/>
            </a:pPr>
            <a:r>
              <a:rPr lang="en-US" sz="1150" b="1" dirty="0">
                <a:solidFill>
                  <a:srgbClr val="A8C6FA"/>
                </a:solidFill>
                <a:latin typeface="Calibri" pitchFamily="34" charset="0"/>
                <a:ea typeface="Calibri" pitchFamily="34" charset="-122"/>
                <a:cs typeface="Calibri" pitchFamily="34" charset="-120"/>
              </a:rPr>
              <a:t>SECURITY MEASURES</a:t>
            </a:r>
            <a:endParaRPr lang="en-US" sz="1150" dirty="0"/>
          </a:p>
        </p:txBody>
      </p:sp>
      <p:pic>
        <p:nvPicPr>
          <p:cNvPr id="8" name="Image 1" descr="./icons/check_white.png"/>
          <p:cNvPicPr>
            <a:picLocks noChangeAspect="1"/>
          </p:cNvPicPr>
          <p:nvPr/>
        </p:nvPicPr>
        <p:blipFill>
          <a:blip r:embed="rId4"/>
          <a:stretch>
            <a:fillRect/>
          </a:stretch>
        </p:blipFill>
        <p:spPr>
          <a:xfrm>
            <a:off x="7040880" y="2130552"/>
            <a:ext cx="146304" cy="146304"/>
          </a:xfrm>
          <a:prstGeom prst="rect">
            <a:avLst/>
          </a:prstGeom>
        </p:spPr>
      </p:pic>
      <p:sp>
        <p:nvSpPr>
          <p:cNvPr id="9" name="Text 4"/>
          <p:cNvSpPr/>
          <p:nvPr/>
        </p:nvSpPr>
        <p:spPr>
          <a:xfrm>
            <a:off x="7269480" y="2103120"/>
            <a:ext cx="4251960" cy="457200"/>
          </a:xfrm>
          <a:prstGeom prst="rect">
            <a:avLst/>
          </a:prstGeom>
          <a:noFill/>
          <a:ln/>
        </p:spPr>
        <p:txBody>
          <a:bodyPr wrap="square" lIns="0" tIns="0" rIns="0" bIns="0" rtlCol="0" anchor="ctr"/>
          <a:lstStyle/>
          <a:p>
            <a:pPr marL="0" indent="0">
              <a:lnSpc>
                <a:spcPct val="115000"/>
              </a:lnSpc>
              <a:buNone/>
            </a:pPr>
            <a:r>
              <a:rPr lang="en-US" sz="900" dirty="0">
                <a:solidFill>
                  <a:srgbClr val="D5DAEF"/>
                </a:solidFill>
                <a:latin typeface="Calibri" pitchFamily="34" charset="0"/>
                <a:ea typeface="Calibri" pitchFamily="34" charset="-122"/>
                <a:cs typeface="Calibri" pitchFamily="34" charset="-120"/>
              </a:rPr>
              <a:t>Password hashing via bcrypt/argon2 (when not delegated to Clerk)</a:t>
            </a:r>
            <a:endParaRPr lang="en-US" sz="900" dirty="0"/>
          </a:p>
        </p:txBody>
      </p:sp>
      <p:pic>
        <p:nvPicPr>
          <p:cNvPr id="4" name="Image 2" descr="./icons/check_white.png"/>
          <p:cNvPicPr>
            <a:picLocks noChangeAspect="1"/>
          </p:cNvPicPr>
          <p:nvPr/>
        </p:nvPicPr>
        <p:blipFill>
          <a:blip r:embed="rId4"/>
          <a:stretch>
            <a:fillRect/>
          </a:stretch>
        </p:blipFill>
        <p:spPr>
          <a:xfrm>
            <a:off x="7040880" y="2587752"/>
            <a:ext cx="146304" cy="146304"/>
          </a:xfrm>
          <a:prstGeom prst="rect">
            <a:avLst/>
          </a:prstGeom>
        </p:spPr>
      </p:pic>
      <p:sp>
        <p:nvSpPr>
          <p:cNvPr id="11" name="Text 5"/>
          <p:cNvSpPr/>
          <p:nvPr/>
        </p:nvSpPr>
        <p:spPr>
          <a:xfrm>
            <a:off x="7269480" y="2560320"/>
            <a:ext cx="4251960" cy="457200"/>
          </a:xfrm>
          <a:prstGeom prst="rect">
            <a:avLst/>
          </a:prstGeom>
          <a:noFill/>
          <a:ln/>
        </p:spPr>
        <p:txBody>
          <a:bodyPr wrap="square" lIns="0" tIns="0" rIns="0" bIns="0" rtlCol="0" anchor="ctr"/>
          <a:lstStyle/>
          <a:p>
            <a:pPr marL="0" indent="0">
              <a:lnSpc>
                <a:spcPct val="115000"/>
              </a:lnSpc>
              <a:buNone/>
            </a:pPr>
            <a:r>
              <a:rPr lang="en-US" sz="900" dirty="0">
                <a:solidFill>
                  <a:srgbClr val="D5DAEF"/>
                </a:solidFill>
                <a:latin typeface="Calibri" pitchFamily="34" charset="0"/>
                <a:ea typeface="Calibri" pitchFamily="34" charset="-122"/>
                <a:cs typeface="Calibri" pitchFamily="34" charset="-120"/>
              </a:rPr>
              <a:t>JWT auth with refresh tokens, passkey support</a:t>
            </a:r>
            <a:endParaRPr lang="en-US" sz="900" dirty="0"/>
          </a:p>
        </p:txBody>
      </p:sp>
      <p:pic>
        <p:nvPicPr>
          <p:cNvPr id="12" name="Image 3" descr="./icons/check_white.png"/>
          <p:cNvPicPr>
            <a:picLocks noChangeAspect="1"/>
          </p:cNvPicPr>
          <p:nvPr/>
        </p:nvPicPr>
        <p:blipFill>
          <a:blip r:embed="rId4"/>
          <a:stretch>
            <a:fillRect/>
          </a:stretch>
        </p:blipFill>
        <p:spPr>
          <a:xfrm>
            <a:off x="7040880" y="3044952"/>
            <a:ext cx="146304" cy="146304"/>
          </a:xfrm>
          <a:prstGeom prst="rect">
            <a:avLst/>
          </a:prstGeom>
        </p:spPr>
      </p:pic>
      <p:sp>
        <p:nvSpPr>
          <p:cNvPr id="13" name="Text 6"/>
          <p:cNvSpPr/>
          <p:nvPr/>
        </p:nvSpPr>
        <p:spPr>
          <a:xfrm>
            <a:off x="7269480" y="3017520"/>
            <a:ext cx="4251960" cy="457200"/>
          </a:xfrm>
          <a:prstGeom prst="rect">
            <a:avLst/>
          </a:prstGeom>
          <a:noFill/>
          <a:ln/>
        </p:spPr>
        <p:txBody>
          <a:bodyPr wrap="square" lIns="0" tIns="0" rIns="0" bIns="0" rtlCol="0" anchor="ctr"/>
          <a:lstStyle/>
          <a:p>
            <a:pPr marL="0" indent="0">
              <a:lnSpc>
                <a:spcPct val="115000"/>
              </a:lnSpc>
              <a:buNone/>
            </a:pPr>
            <a:r>
              <a:rPr lang="en-US" sz="900" dirty="0">
                <a:solidFill>
                  <a:srgbClr val="D5DAEF"/>
                </a:solidFill>
                <a:latin typeface="Calibri" pitchFamily="34" charset="0"/>
                <a:ea typeface="Calibri" pitchFamily="34" charset="-122"/>
                <a:cs typeface="Calibri" pitchFamily="34" charset="-120"/>
              </a:rPr>
              <a:t>Role-based authorization checks</a:t>
            </a:r>
            <a:endParaRPr lang="en-US" sz="900" dirty="0"/>
          </a:p>
        </p:txBody>
      </p:sp>
      <p:pic>
        <p:nvPicPr>
          <p:cNvPr id="14" name="Image 4" descr="./icons/check_white.png"/>
          <p:cNvPicPr>
            <a:picLocks noChangeAspect="1"/>
          </p:cNvPicPr>
          <p:nvPr/>
        </p:nvPicPr>
        <p:blipFill>
          <a:blip r:embed="rId4"/>
          <a:stretch>
            <a:fillRect/>
          </a:stretch>
        </p:blipFill>
        <p:spPr>
          <a:xfrm>
            <a:off x="7040880" y="3502152"/>
            <a:ext cx="146304" cy="146304"/>
          </a:xfrm>
          <a:prstGeom prst="rect">
            <a:avLst/>
          </a:prstGeom>
        </p:spPr>
      </p:pic>
      <p:sp>
        <p:nvSpPr>
          <p:cNvPr id="15" name="Text 7"/>
          <p:cNvSpPr/>
          <p:nvPr/>
        </p:nvSpPr>
        <p:spPr>
          <a:xfrm>
            <a:off x="7269480" y="3474720"/>
            <a:ext cx="4251960" cy="457200"/>
          </a:xfrm>
          <a:prstGeom prst="rect">
            <a:avLst/>
          </a:prstGeom>
          <a:noFill/>
          <a:ln/>
        </p:spPr>
        <p:txBody>
          <a:bodyPr wrap="square" lIns="0" tIns="0" rIns="0" bIns="0" rtlCol="0" anchor="ctr"/>
          <a:lstStyle/>
          <a:p>
            <a:pPr marL="0" indent="0">
              <a:lnSpc>
                <a:spcPct val="115000"/>
              </a:lnSpc>
              <a:buNone/>
            </a:pPr>
            <a:r>
              <a:rPr lang="en-US" sz="900" dirty="0">
                <a:solidFill>
                  <a:srgbClr val="D5DAEF"/>
                </a:solidFill>
                <a:latin typeface="Calibri" pitchFamily="34" charset="0"/>
                <a:ea typeface="Calibri" pitchFamily="34" charset="-122"/>
                <a:cs typeface="Calibri" pitchFamily="34" charset="-120"/>
              </a:rPr>
              <a:t>Postgres Row-Level Security for workspace data isolation</a:t>
            </a:r>
            <a:endParaRPr lang="en-US" sz="900" dirty="0"/>
          </a:p>
        </p:txBody>
      </p:sp>
      <p:pic>
        <p:nvPicPr>
          <p:cNvPr id="16" name="Image 5" descr="./icons/check_white.png"/>
          <p:cNvPicPr>
            <a:picLocks noChangeAspect="1"/>
          </p:cNvPicPr>
          <p:nvPr/>
        </p:nvPicPr>
        <p:blipFill>
          <a:blip r:embed="rId4"/>
          <a:stretch>
            <a:fillRect/>
          </a:stretch>
        </p:blipFill>
        <p:spPr>
          <a:xfrm>
            <a:off x="7040880" y="3959352"/>
            <a:ext cx="146304" cy="146304"/>
          </a:xfrm>
          <a:prstGeom prst="rect">
            <a:avLst/>
          </a:prstGeom>
        </p:spPr>
      </p:pic>
      <p:sp>
        <p:nvSpPr>
          <p:cNvPr id="17" name="Text 8"/>
          <p:cNvSpPr/>
          <p:nvPr/>
        </p:nvSpPr>
        <p:spPr>
          <a:xfrm>
            <a:off x="7269480" y="3931920"/>
            <a:ext cx="4251960" cy="457200"/>
          </a:xfrm>
          <a:prstGeom prst="rect">
            <a:avLst/>
          </a:prstGeom>
          <a:noFill/>
          <a:ln/>
        </p:spPr>
        <p:txBody>
          <a:bodyPr wrap="square" lIns="0" tIns="0" rIns="0" bIns="0" rtlCol="0" anchor="ctr"/>
          <a:lstStyle/>
          <a:p>
            <a:pPr marL="0" indent="0">
              <a:lnSpc>
                <a:spcPct val="115000"/>
              </a:lnSpc>
              <a:buNone/>
            </a:pPr>
            <a:r>
              <a:rPr lang="en-US" sz="900" dirty="0">
                <a:solidFill>
                  <a:srgbClr val="D5DAEF"/>
                </a:solidFill>
                <a:latin typeface="Calibri" pitchFamily="34" charset="0"/>
                <a:ea typeface="Calibri" pitchFamily="34" charset="-122"/>
                <a:cs typeface="Calibri" pitchFamily="34" charset="-120"/>
              </a:rPr>
              <a:t>Zod schema validation shared client/server</a:t>
            </a:r>
            <a:endParaRPr lang="en-US" sz="900" dirty="0"/>
          </a:p>
        </p:txBody>
      </p:sp>
      <p:pic>
        <p:nvPicPr>
          <p:cNvPr id="18" name="Image 6" descr="./icons/check_white.png"/>
          <p:cNvPicPr>
            <a:picLocks noChangeAspect="1"/>
          </p:cNvPicPr>
          <p:nvPr/>
        </p:nvPicPr>
        <p:blipFill>
          <a:blip r:embed="rId4"/>
          <a:stretch>
            <a:fillRect/>
          </a:stretch>
        </p:blipFill>
        <p:spPr>
          <a:xfrm>
            <a:off x="7040880" y="4416552"/>
            <a:ext cx="146304" cy="146304"/>
          </a:xfrm>
          <a:prstGeom prst="rect">
            <a:avLst/>
          </a:prstGeom>
        </p:spPr>
      </p:pic>
      <p:sp>
        <p:nvSpPr>
          <p:cNvPr id="19" name="Text 9"/>
          <p:cNvSpPr/>
          <p:nvPr/>
        </p:nvSpPr>
        <p:spPr>
          <a:xfrm>
            <a:off x="7269480" y="4389120"/>
            <a:ext cx="4251960" cy="457200"/>
          </a:xfrm>
          <a:prstGeom prst="rect">
            <a:avLst/>
          </a:prstGeom>
          <a:noFill/>
          <a:ln/>
        </p:spPr>
        <p:txBody>
          <a:bodyPr wrap="square" lIns="0" tIns="0" rIns="0" bIns="0" rtlCol="0" anchor="ctr"/>
          <a:lstStyle/>
          <a:p>
            <a:pPr marL="0" indent="0">
              <a:lnSpc>
                <a:spcPct val="115000"/>
              </a:lnSpc>
              <a:buNone/>
            </a:pPr>
            <a:r>
              <a:rPr lang="en-US" sz="900" dirty="0">
                <a:solidFill>
                  <a:srgbClr val="D5DAEF"/>
                </a:solidFill>
                <a:latin typeface="Calibri" pitchFamily="34" charset="0"/>
                <a:ea typeface="Calibri" pitchFamily="34" charset="-122"/>
                <a:cs typeface="Calibri" pitchFamily="34" charset="-120"/>
              </a:rPr>
              <a:t>Protection against XSS, CSRF, SSRF</a:t>
            </a:r>
            <a:endParaRPr lang="en-US" sz="900" dirty="0"/>
          </a:p>
        </p:txBody>
      </p:sp>
      <p:pic>
        <p:nvPicPr>
          <p:cNvPr id="20" name="Image 7" descr="./icons/check_white.png"/>
          <p:cNvPicPr>
            <a:picLocks noChangeAspect="1"/>
          </p:cNvPicPr>
          <p:nvPr/>
        </p:nvPicPr>
        <p:blipFill>
          <a:blip r:embed="rId4"/>
          <a:stretch>
            <a:fillRect/>
          </a:stretch>
        </p:blipFill>
        <p:spPr>
          <a:xfrm>
            <a:off x="7040880" y="4873752"/>
            <a:ext cx="146304" cy="146304"/>
          </a:xfrm>
          <a:prstGeom prst="rect">
            <a:avLst/>
          </a:prstGeom>
        </p:spPr>
      </p:pic>
      <p:sp>
        <p:nvSpPr>
          <p:cNvPr id="21" name="Text 10"/>
          <p:cNvSpPr/>
          <p:nvPr/>
        </p:nvSpPr>
        <p:spPr>
          <a:xfrm>
            <a:off x="7269480" y="4846320"/>
            <a:ext cx="4251960" cy="457200"/>
          </a:xfrm>
          <a:prstGeom prst="rect">
            <a:avLst/>
          </a:prstGeom>
          <a:noFill/>
          <a:ln/>
        </p:spPr>
        <p:txBody>
          <a:bodyPr wrap="square" lIns="0" tIns="0" rIns="0" bIns="0" rtlCol="0" anchor="ctr"/>
          <a:lstStyle/>
          <a:p>
            <a:pPr marL="0" indent="0">
              <a:lnSpc>
                <a:spcPct val="115000"/>
              </a:lnSpc>
              <a:buNone/>
            </a:pPr>
            <a:r>
              <a:rPr lang="en-US" sz="900" dirty="0">
                <a:solidFill>
                  <a:srgbClr val="D5DAEF"/>
                </a:solidFill>
                <a:latin typeface="Calibri" pitchFamily="34" charset="0"/>
                <a:ea typeface="Calibri" pitchFamily="34" charset="-122"/>
                <a:cs typeface="Calibri" pitchFamily="34" charset="-120"/>
              </a:rPr>
              <a:t>AI input/output sanitization against prompt injection</a:t>
            </a:r>
            <a:endParaRPr lang="en-US" sz="900" dirty="0"/>
          </a:p>
        </p:txBody>
      </p:sp>
      <p:pic>
        <p:nvPicPr>
          <p:cNvPr id="22" name="Image 8" descr="./icons/check_white.png"/>
          <p:cNvPicPr>
            <a:picLocks noChangeAspect="1"/>
          </p:cNvPicPr>
          <p:nvPr/>
        </p:nvPicPr>
        <p:blipFill>
          <a:blip r:embed="rId4"/>
          <a:stretch>
            <a:fillRect/>
          </a:stretch>
        </p:blipFill>
        <p:spPr>
          <a:xfrm>
            <a:off x="7040880" y="5330952"/>
            <a:ext cx="146304" cy="146304"/>
          </a:xfrm>
          <a:prstGeom prst="rect">
            <a:avLst/>
          </a:prstGeom>
        </p:spPr>
      </p:pic>
      <p:sp>
        <p:nvSpPr>
          <p:cNvPr id="23" name="Text 11"/>
          <p:cNvSpPr/>
          <p:nvPr/>
        </p:nvSpPr>
        <p:spPr>
          <a:xfrm>
            <a:off x="7269480" y="5303520"/>
            <a:ext cx="4251960" cy="457200"/>
          </a:xfrm>
          <a:prstGeom prst="rect">
            <a:avLst/>
          </a:prstGeom>
          <a:noFill/>
          <a:ln/>
        </p:spPr>
        <p:txBody>
          <a:bodyPr wrap="square" lIns="0" tIns="0" rIns="0" bIns="0" rtlCol="0" anchor="ctr"/>
          <a:lstStyle/>
          <a:p>
            <a:pPr marL="0" indent="0">
              <a:lnSpc>
                <a:spcPct val="115000"/>
              </a:lnSpc>
              <a:buNone/>
            </a:pPr>
            <a:r>
              <a:rPr lang="en-US" sz="900" dirty="0">
                <a:solidFill>
                  <a:srgbClr val="D5DAEF"/>
                </a:solidFill>
                <a:latin typeface="Calibri" pitchFamily="34" charset="0"/>
                <a:ea typeface="Calibri" pitchFamily="34" charset="-122"/>
                <a:cs typeface="Calibri" pitchFamily="34" charset="-120"/>
              </a:rPr>
              <a:t>Code execution fully isolated per run — ephemeral containers, no host network/filesystem access, strict resource quotas</a:t>
            </a:r>
            <a:endParaRPr lang="en-US" sz="900" dirty="0"/>
          </a:p>
        </p:txBody>
      </p:sp>
      <p:pic>
        <p:nvPicPr>
          <p:cNvPr id="24" name="Image 9" descr="./icons/arrow_left_white.png">
            <a:hlinkClick r:id="rId5" action="ppaction://hlinksldjump"/>
          </p:cNvPr>
          <p:cNvPicPr>
            <a:picLocks noChangeAspect="1"/>
          </p:cNvPicPr>
          <p:nvPr/>
        </p:nvPicPr>
        <p:blipFill>
          <a:blip r:embed="rId6"/>
          <a:stretch>
            <a:fillRect/>
          </a:stretch>
        </p:blipFill>
        <p:spPr>
          <a:xfrm>
            <a:off x="548640" y="6382512"/>
            <a:ext cx="201168" cy="201168"/>
          </a:xfrm>
          <a:prstGeom prst="rect">
            <a:avLst/>
          </a:prstGeom>
        </p:spPr>
      </p:pic>
      <p:sp>
        <p:nvSpPr>
          <p:cNvPr id="25" name="Shape 12">
            <a:hlinkClick r:id="rId5" action="ppaction://hlinksldjump"/>
          </p:cNvPr>
          <p:cNvSpPr/>
          <p:nvPr/>
        </p:nvSpPr>
        <p:spPr>
          <a:xfrm>
            <a:off x="548640" y="6355080"/>
            <a:ext cx="2377440" cy="365760"/>
          </a:xfrm>
          <a:prstGeom prst="rect">
            <a:avLst/>
          </a:prstGeom>
          <a:solidFill>
            <a:srgbClr val="14213D">
              <a:alpha val="0"/>
            </a:srgbClr>
          </a:solidFill>
          <a:ln/>
        </p:spPr>
      </p:sp>
      <p:sp>
        <p:nvSpPr>
          <p:cNvPr id="26" name="Text 13">
            <a:hlinkClick r:id="rId5" action="ppaction://hlinksldjump"/>
          </p:cNvPr>
          <p:cNvSpPr/>
          <p:nvPr/>
        </p:nvSpPr>
        <p:spPr>
          <a:xfrm>
            <a:off x="841248" y="6355080"/>
            <a:ext cx="2377440" cy="365760"/>
          </a:xfrm>
          <a:prstGeom prst="rect">
            <a:avLst/>
          </a:prstGeom>
          <a:noFill/>
          <a:ln/>
        </p:spPr>
        <p:txBody>
          <a:bodyPr wrap="square" lIns="0" tIns="0" rIns="0" bIns="0" rtlCol="0" anchor="ctr"/>
          <a:lstStyle/>
          <a:p>
            <a:pPr marL="0" indent="0">
              <a:buNone/>
            </a:pPr>
            <a:r>
              <a:rPr lang="en-US" sz="1100" b="1" u="sng" dirty="0">
                <a:solidFill>
                  <a:srgbClr val="14213D"/>
                </a:solidFill>
                <a:latin typeface="Calibri" pitchFamily="34" charset="0"/>
                <a:ea typeface="Calibri" pitchFamily="34" charset="-122"/>
                <a:cs typeface="Calibri" pitchFamily="34" charset="-120"/>
                <a:hlinkClick r:id="rId5" action="ppaction://hlinksldjump">
                  <a:extLst>
                    <a:ext uri="{A12FA001-AC4F-418D-AE19-62706E023703}">
                      <ahyp:hlinkClr xmlns:ahyp="http://schemas.microsoft.com/office/drawing/2018/hyperlinkcolor" val="tx"/>
                    </a:ext>
                  </a:extLst>
                </a:hlinkClick>
              </a:rPr>
              <a:t>BACK TO REVIEW BOARD</a:t>
            </a:r>
            <a:endParaRPr lang="en-US" sz="1100" dirty="0"/>
          </a:p>
        </p:txBody>
      </p:sp>
      <p:sp>
        <p:nvSpPr>
          <p:cNvPr id="27" name="Text 14"/>
          <p:cNvSpPr/>
          <p:nvPr/>
        </p:nvSpPr>
        <p:spPr>
          <a:xfrm>
            <a:off x="8595360" y="6382512"/>
            <a:ext cx="3017520" cy="274320"/>
          </a:xfrm>
          <a:prstGeom prst="rect">
            <a:avLst/>
          </a:prstGeom>
          <a:noFill/>
          <a:ln/>
        </p:spPr>
        <p:txBody>
          <a:bodyPr wrap="square" lIns="0" tIns="0" rIns="0" bIns="0" rtlCol="0" anchor="ctr"/>
          <a:lstStyle/>
          <a:p>
            <a:pPr marL="0" indent="0" algn="r">
              <a:buNone/>
            </a:pPr>
            <a:r>
              <a:rPr lang="en-US" sz="1000" dirty="0">
                <a:solidFill>
                  <a:srgbClr val="A6B0C8"/>
                </a:solidFill>
                <a:latin typeface="Calibri" pitchFamily="34" charset="0"/>
                <a:ea typeface="Calibri" pitchFamily="34" charset="-122"/>
                <a:cs typeface="Calibri" pitchFamily="34" charset="-120"/>
              </a:rPr>
              <a:t>Cadence Review · Roles &amp; Security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E05C2A"/>
                </a:solidFill>
                <a:latin typeface="Calibri" pitchFamily="34" charset="0"/>
                <a:ea typeface="Calibri" pitchFamily="34" charset="-122"/>
                <a:cs typeface="Calibri" pitchFamily="34" charset="-120"/>
              </a:rPr>
              <a:t>SECTION 07 · REVIEWED BY THEORIONGD</a:t>
            </a:r>
            <a:endParaRPr lang="en-US" sz="1200" dirty="0"/>
          </a:p>
        </p:txBody>
      </p:sp>
      <p:sp>
        <p:nvSpPr>
          <p:cNvPr id="3" name="Text 1"/>
          <p:cNvSpPr/>
          <p:nvPr/>
        </p:nvSpPr>
        <p:spPr>
          <a:xfrm>
            <a:off x="548640" y="640080"/>
            <a:ext cx="9601200" cy="64008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Subscription Tiers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0607040" cy="4224528"/>
        </p:xfrm>
        <a:graphic>
          <a:graphicData uri="http://schemas.openxmlformats.org/drawingml/2006/table">
            <a:tbl>
              <a:tblPr/>
              <a:tblGrid>
                <a:gridCol w="51206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Feature</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Free</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Pro</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Enterprise</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Core task/project management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Skill-Based Auto Assignment (one-time)</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 Limited</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Continuous Reallocation &amp; Prediction</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AI Bottleneck Detection &amp; Explainable AI</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Dynamic Skill Graph</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Quality Prediction &amp; Digital Twin</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Limited</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Multi-Agent AI Workforce</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Core agents</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Full suite</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Executive Intelligence Dashboard</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Agency Portfolio Mode</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09"/>
                  </a:ext>
                </a:extLst>
              </a:tr>
              <a:tr h="384048">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Code Sandbox &amp; Test Runner</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7-day trial</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tc>
                  <a:txBody>
                    <a:bodyPr/>
                    <a:lstStyle/>
                    <a:p>
                      <a:pPr marL="0" indent="0" algn="ctr">
                        <a:buNone/>
                      </a:pPr>
                      <a:r>
                        <a:rPr lang="en-US" sz="950" dirty="0">
                          <a:solidFill>
                            <a:srgbClr val="2C355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DCE2F2"/>
                      </a:solidFill>
                      <a:prstDash val="solid"/>
                      <a:round/>
                      <a:headEnd type="none" w="med" len="med"/>
                      <a:tailEnd type="none" w="med" len="med"/>
                    </a:lnL>
                    <a:lnR w="6350" cap="flat" cmpd="sng" algn="ctr">
                      <a:solidFill>
                        <a:srgbClr val="DCE2F2"/>
                      </a:solidFill>
                      <a:prstDash val="solid"/>
                      <a:round/>
                      <a:headEnd type="none" w="med" len="med"/>
                      <a:tailEnd type="none" w="med" len="med"/>
                    </a:lnR>
                    <a:lnT w="6350" cap="flat" cmpd="sng" algn="ctr">
                      <a:solidFill>
                        <a:srgbClr val="DCE2F2"/>
                      </a:solidFill>
                      <a:prstDash val="solid"/>
                      <a:round/>
                      <a:headEnd type="none" w="med" len="med"/>
                      <a:tailEnd type="none" w="med" len="med"/>
                    </a:lnT>
                    <a:lnB w="6350" cap="flat" cmpd="sng" algn="ctr">
                      <a:solidFill>
                        <a:srgbClr val="DCE2F2"/>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Text 2"/>
          <p:cNvSpPr/>
          <p:nvPr/>
        </p:nvSpPr>
        <p:spPr>
          <a:xfrm>
            <a:off x="548640" y="5852160"/>
            <a:ext cx="10607040" cy="457200"/>
          </a:xfrm>
          <a:prstGeom prst="rect">
            <a:avLst/>
          </a:prstGeom>
          <a:noFill/>
          <a:ln/>
        </p:spPr>
        <p:txBody>
          <a:bodyPr wrap="square" lIns="0" tIns="0" rIns="0" bIns="0" rtlCol="0" anchor="ctr"/>
          <a:lstStyle/>
          <a:p>
            <a:pPr marL="0" indent="0">
              <a:lnSpc>
                <a:spcPct val="120000"/>
              </a:lnSpc>
              <a:buNone/>
            </a:pPr>
            <a:r>
              <a:rPr lang="en-US" sz="1000" i="1" dirty="0">
                <a:solidFill>
                  <a:srgbClr val="5C6B8A"/>
                </a:solidFill>
                <a:latin typeface="Calibri" pitchFamily="34" charset="0"/>
                <a:ea typeface="Calibri" pitchFamily="34" charset="-122"/>
                <a:cs typeface="Calibri" pitchFamily="34" charset="-120"/>
              </a:rPr>
              <a:t>Free: core orchestration on first assignment only.  Pro: unlocks the continuous orchestration engine and code sandbox.  Enterprise: adds System Admin, cross-client optimization, and full agent suite. All premium features are billed and enforced via Stripe at the API layer.</a:t>
            </a:r>
            <a:endParaRPr lang="en-US" sz="1000" dirty="0"/>
          </a:p>
        </p:txBody>
      </p:sp>
      <p:pic>
        <p:nvPicPr>
          <p:cNvPr id="6" name="Image 0" descr="./icons/arrow_left_white.png">
            <a:hlinkClick r:id="rId3" action="ppaction://hlinksldjump"/>
          </p:cNvPr>
          <p:cNvPicPr>
            <a:picLocks noChangeAspect="1"/>
          </p:cNvPicPr>
          <p:nvPr/>
        </p:nvPicPr>
        <p:blipFill>
          <a:blip r:embed="rId4"/>
          <a:stretch>
            <a:fillRect/>
          </a:stretch>
        </p:blipFill>
        <p:spPr>
          <a:xfrm>
            <a:off x="548640" y="6382512"/>
            <a:ext cx="201168" cy="201168"/>
          </a:xfrm>
          <a:prstGeom prst="rect">
            <a:avLst/>
          </a:prstGeom>
        </p:spPr>
      </p:pic>
      <p:sp>
        <p:nvSpPr>
          <p:cNvPr id="7" name="Shape 3">
            <a:hlinkClick r:id="rId3" action="ppaction://hlinksldjump"/>
          </p:cNvPr>
          <p:cNvSpPr/>
          <p:nvPr/>
        </p:nvSpPr>
        <p:spPr>
          <a:xfrm>
            <a:off x="548640" y="6355080"/>
            <a:ext cx="2377440" cy="365760"/>
          </a:xfrm>
          <a:prstGeom prst="rect">
            <a:avLst/>
          </a:prstGeom>
          <a:solidFill>
            <a:srgbClr val="14213D">
              <a:alpha val="0"/>
            </a:srgbClr>
          </a:solidFill>
          <a:ln/>
        </p:spPr>
      </p:sp>
      <p:sp>
        <p:nvSpPr>
          <p:cNvPr id="8" name="Text 4">
            <a:hlinkClick r:id="rId3" action="ppaction://hlinksldjump"/>
          </p:cNvPr>
          <p:cNvSpPr/>
          <p:nvPr/>
        </p:nvSpPr>
        <p:spPr>
          <a:xfrm>
            <a:off x="841248" y="6355080"/>
            <a:ext cx="2377440" cy="365760"/>
          </a:xfrm>
          <a:prstGeom prst="rect">
            <a:avLst/>
          </a:prstGeom>
          <a:noFill/>
          <a:ln/>
        </p:spPr>
        <p:txBody>
          <a:bodyPr wrap="square" lIns="0" tIns="0" rIns="0" bIns="0" rtlCol="0" anchor="ctr"/>
          <a:lstStyle/>
          <a:p>
            <a:pPr marL="0" indent="0">
              <a:buNone/>
            </a:pPr>
            <a:r>
              <a:rPr lang="en-US" sz="1100" b="1" u="sng" dirty="0">
                <a:solidFill>
                  <a:srgbClr val="14213D"/>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 TO REVIEW BOARD</a:t>
            </a:r>
            <a:endParaRPr lang="en-US" sz="1100" dirty="0"/>
          </a:p>
        </p:txBody>
      </p:sp>
      <p:sp>
        <p:nvSpPr>
          <p:cNvPr id="9" name="Text 5"/>
          <p:cNvSpPr/>
          <p:nvPr/>
        </p:nvSpPr>
        <p:spPr>
          <a:xfrm>
            <a:off x="8595360" y="6382512"/>
            <a:ext cx="3017520" cy="274320"/>
          </a:xfrm>
          <a:prstGeom prst="rect">
            <a:avLst/>
          </a:prstGeom>
          <a:noFill/>
          <a:ln/>
        </p:spPr>
        <p:txBody>
          <a:bodyPr wrap="square" lIns="0" tIns="0" rIns="0" bIns="0" rtlCol="0" anchor="ctr"/>
          <a:lstStyle/>
          <a:p>
            <a:pPr marL="0" indent="0" algn="r">
              <a:buNone/>
            </a:pPr>
            <a:r>
              <a:rPr lang="en-US" sz="1000" dirty="0">
                <a:solidFill>
                  <a:srgbClr val="A6B0C8"/>
                </a:solidFill>
                <a:latin typeface="Calibri" pitchFamily="34" charset="0"/>
                <a:ea typeface="Calibri" pitchFamily="34" charset="-122"/>
                <a:cs typeface="Calibri" pitchFamily="34" charset="-120"/>
              </a:rPr>
              <a:t>Cadence Review · Subscription Tiers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E05C2A"/>
                </a:solidFill>
                <a:latin typeface="Calibri" pitchFamily="34" charset="0"/>
                <a:ea typeface="Calibri" pitchFamily="34" charset="-122"/>
                <a:cs typeface="Calibri" pitchFamily="34" charset="-120"/>
              </a:rPr>
              <a:t>SECTION 08 · REVIEWED BY THEORIONGD</a:t>
            </a:r>
            <a:endParaRPr lang="en-US" sz="1200" dirty="0"/>
          </a:p>
        </p:txBody>
      </p:sp>
      <p:sp>
        <p:nvSpPr>
          <p:cNvPr id="3" name="Text 1"/>
          <p:cNvSpPr/>
          <p:nvPr/>
        </p:nvSpPr>
        <p:spPr>
          <a:xfrm>
            <a:off x="548640" y="640080"/>
            <a:ext cx="9601200" cy="64008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Roadmap &amp; Future Enhancements</a:t>
            </a:r>
            <a:endParaRPr lang="en-US" sz="2800" dirty="0"/>
          </a:p>
        </p:txBody>
      </p:sp>
      <p:sp>
        <p:nvSpPr>
          <p:cNvPr id="4" name="Text 2"/>
          <p:cNvSpPr/>
          <p:nvPr/>
        </p:nvSpPr>
        <p:spPr>
          <a:xfrm>
            <a:off x="548640" y="1371600"/>
            <a:ext cx="10607040" cy="320040"/>
          </a:xfrm>
          <a:prstGeom prst="rect">
            <a:avLst/>
          </a:prstGeom>
          <a:noFill/>
          <a:ln/>
        </p:spPr>
        <p:txBody>
          <a:bodyPr wrap="square" lIns="0" tIns="0" rIns="0" bIns="0" rtlCol="0" anchor="ctr"/>
          <a:lstStyle/>
          <a:p>
            <a:pPr marL="0" indent="0">
              <a:buNone/>
            </a:pPr>
            <a:r>
              <a:rPr lang="en-US" sz="1250" dirty="0">
                <a:solidFill>
                  <a:srgbClr val="2C355C"/>
                </a:solidFill>
                <a:latin typeface="Calibri" pitchFamily="34" charset="0"/>
                <a:ea typeface="Calibri" pitchFamily="34" charset="-122"/>
                <a:cs typeface="Calibri" pitchFamily="34" charset="-120"/>
              </a:rPr>
              <a:t>Planned post-launch capabilities, extending beyond the current MIT-licensed PWA release.</a:t>
            </a:r>
            <a:endParaRPr lang="en-US" sz="1250" dirty="0"/>
          </a:p>
        </p:txBody>
      </p:sp>
      <p:sp>
        <p:nvSpPr>
          <p:cNvPr id="5" name="Shape 3"/>
          <p:cNvSpPr/>
          <p:nvPr/>
        </p:nvSpPr>
        <p:spPr>
          <a:xfrm>
            <a:off x="548640" y="1828800"/>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6" name="Shape 4"/>
          <p:cNvSpPr/>
          <p:nvPr/>
        </p:nvSpPr>
        <p:spPr>
          <a:xfrm>
            <a:off x="713232" y="1993392"/>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7" name="Image 0" descr="./icons/sitemap_dark.png"/>
          <p:cNvPicPr>
            <a:picLocks noChangeAspect="1"/>
          </p:cNvPicPr>
          <p:nvPr/>
        </p:nvPicPr>
        <p:blipFill>
          <a:blip r:embed="rId3"/>
          <a:stretch>
            <a:fillRect/>
          </a:stretch>
        </p:blipFill>
        <p:spPr>
          <a:xfrm>
            <a:off x="843991" y="2124151"/>
            <a:ext cx="241402" cy="241402"/>
          </a:xfrm>
          <a:prstGeom prst="rect">
            <a:avLst/>
          </a:prstGeom>
        </p:spPr>
      </p:pic>
      <p:sp>
        <p:nvSpPr>
          <p:cNvPr id="8" name="Text 5"/>
          <p:cNvSpPr/>
          <p:nvPr/>
        </p:nvSpPr>
        <p:spPr>
          <a:xfrm>
            <a:off x="1325880" y="1975104"/>
            <a:ext cx="2697480" cy="548640"/>
          </a:xfrm>
          <a:prstGeom prst="rect">
            <a:avLst/>
          </a:prstGeom>
          <a:noFill/>
          <a:ln/>
        </p:spPr>
        <p:txBody>
          <a:bodyPr wrap="square" lIns="0" tIns="0" rIns="0" bIns="0" rtlCol="0" anchor="t"/>
          <a:lstStyle/>
          <a:p>
            <a:pPr marL="0" indent="0">
              <a:buNone/>
            </a:pPr>
            <a:r>
              <a:rPr lang="en-US" sz="1300" b="1" dirty="0">
                <a:solidFill>
                  <a:srgbClr val="14213D"/>
                </a:solidFill>
                <a:latin typeface="Calibri" pitchFamily="34" charset="0"/>
                <a:ea typeface="Calibri" pitchFamily="34" charset="-122"/>
                <a:cs typeface="Calibri" pitchFamily="34" charset="-120"/>
              </a:rPr>
              <a:t>Native Mobile App</a:t>
            </a:r>
            <a:endParaRPr lang="en-US" sz="1300" dirty="0"/>
          </a:p>
        </p:txBody>
      </p:sp>
      <p:sp>
        <p:nvSpPr>
          <p:cNvPr id="9" name="Text 6"/>
          <p:cNvSpPr/>
          <p:nvPr/>
        </p:nvSpPr>
        <p:spPr>
          <a:xfrm>
            <a:off x="731520" y="2606040"/>
            <a:ext cx="3246120" cy="1051560"/>
          </a:xfrm>
          <a:prstGeom prst="rect">
            <a:avLst/>
          </a:prstGeom>
          <a:noFill/>
          <a:ln/>
        </p:spPr>
        <p:txBody>
          <a:bodyPr wrap="square" lIns="0" tIns="0" rIns="0" bIns="0" rtlCol="0" anchor="ctr"/>
          <a:lstStyle/>
          <a:p>
            <a:pPr marL="0" indent="0">
              <a:lnSpc>
                <a:spcPct val="118000"/>
              </a:lnSpc>
              <a:buNone/>
            </a:pPr>
            <a:r>
              <a:rPr lang="en-US" sz="1000" dirty="0">
                <a:solidFill>
                  <a:srgbClr val="5C6B8A"/>
                </a:solidFill>
                <a:latin typeface="Calibri" pitchFamily="34" charset="0"/>
                <a:ea typeface="Calibri" pitchFamily="34" charset="-122"/>
                <a:cs typeface="Calibri" pitchFamily="34" charset="-120"/>
              </a:rPr>
              <a:t>React Native / Expo app beyond the current PWA, for full offline-first mobile usage.</a:t>
            </a:r>
            <a:endParaRPr lang="en-US" sz="1000" dirty="0"/>
          </a:p>
        </p:txBody>
      </p:sp>
      <p:sp>
        <p:nvSpPr>
          <p:cNvPr id="10" name="Shape 7"/>
          <p:cNvSpPr/>
          <p:nvPr/>
        </p:nvSpPr>
        <p:spPr>
          <a:xfrm>
            <a:off x="4325112" y="1828800"/>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11" name="Shape 8"/>
          <p:cNvSpPr/>
          <p:nvPr/>
        </p:nvSpPr>
        <p:spPr>
          <a:xfrm>
            <a:off x="4489704" y="1993392"/>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12" name="Image 1" descr="./icons/puzzle_dark.png"/>
          <p:cNvPicPr>
            <a:picLocks noChangeAspect="1"/>
          </p:cNvPicPr>
          <p:nvPr/>
        </p:nvPicPr>
        <p:blipFill>
          <a:blip r:embed="rId4"/>
          <a:stretch>
            <a:fillRect/>
          </a:stretch>
        </p:blipFill>
        <p:spPr>
          <a:xfrm>
            <a:off x="4620463" y="2124151"/>
            <a:ext cx="241402" cy="241402"/>
          </a:xfrm>
          <a:prstGeom prst="rect">
            <a:avLst/>
          </a:prstGeom>
        </p:spPr>
      </p:pic>
      <p:sp>
        <p:nvSpPr>
          <p:cNvPr id="13" name="Text 9"/>
          <p:cNvSpPr/>
          <p:nvPr/>
        </p:nvSpPr>
        <p:spPr>
          <a:xfrm>
            <a:off x="5102352" y="1975104"/>
            <a:ext cx="2697480" cy="548640"/>
          </a:xfrm>
          <a:prstGeom prst="rect">
            <a:avLst/>
          </a:prstGeom>
          <a:noFill/>
          <a:ln/>
        </p:spPr>
        <p:txBody>
          <a:bodyPr wrap="square" lIns="0" tIns="0" rIns="0" bIns="0" rtlCol="0" anchor="t"/>
          <a:lstStyle/>
          <a:p>
            <a:pPr marL="0" indent="0">
              <a:buNone/>
            </a:pPr>
            <a:r>
              <a:rPr lang="en-US" sz="1300" b="1" dirty="0">
                <a:solidFill>
                  <a:srgbClr val="14213D"/>
                </a:solidFill>
                <a:latin typeface="Calibri" pitchFamily="34" charset="0"/>
                <a:ea typeface="Calibri" pitchFamily="34" charset="-122"/>
                <a:cs typeface="Calibri" pitchFamily="34" charset="-120"/>
              </a:rPr>
              <a:t>Custom Role Builder</a:t>
            </a:r>
            <a:endParaRPr lang="en-US" sz="1300" dirty="0"/>
          </a:p>
        </p:txBody>
      </p:sp>
      <p:sp>
        <p:nvSpPr>
          <p:cNvPr id="14" name="Text 10"/>
          <p:cNvSpPr/>
          <p:nvPr/>
        </p:nvSpPr>
        <p:spPr>
          <a:xfrm>
            <a:off x="4507992" y="2606040"/>
            <a:ext cx="3246120" cy="1051560"/>
          </a:xfrm>
          <a:prstGeom prst="rect">
            <a:avLst/>
          </a:prstGeom>
          <a:noFill/>
          <a:ln/>
        </p:spPr>
        <p:txBody>
          <a:bodyPr wrap="square" lIns="0" tIns="0" rIns="0" bIns="0" rtlCol="0" anchor="ctr"/>
          <a:lstStyle/>
          <a:p>
            <a:pPr marL="0" indent="0">
              <a:lnSpc>
                <a:spcPct val="118000"/>
              </a:lnSpc>
              <a:buNone/>
            </a:pPr>
            <a:r>
              <a:rPr lang="en-US" sz="1000" dirty="0">
                <a:solidFill>
                  <a:srgbClr val="5C6B8A"/>
                </a:solidFill>
                <a:latin typeface="Calibri" pitchFamily="34" charset="0"/>
                <a:ea typeface="Calibri" pitchFamily="34" charset="-122"/>
                <a:cs typeface="Calibri" pitchFamily="34" charset="-120"/>
              </a:rPr>
              <a:t>Mix-and-match permissions beyond the fixed role set, for organizations with non-standard hierarchies.</a:t>
            </a:r>
            <a:endParaRPr lang="en-US" sz="1000" dirty="0"/>
          </a:p>
        </p:txBody>
      </p:sp>
      <p:sp>
        <p:nvSpPr>
          <p:cNvPr id="15" name="Shape 11"/>
          <p:cNvSpPr/>
          <p:nvPr/>
        </p:nvSpPr>
        <p:spPr>
          <a:xfrm>
            <a:off x="8101584" y="1828800"/>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16" name="Shape 12"/>
          <p:cNvSpPr/>
          <p:nvPr/>
        </p:nvSpPr>
        <p:spPr>
          <a:xfrm>
            <a:off x="8266176" y="1993392"/>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17" name="Image 2" descr="./icons/chart_dark.png"/>
          <p:cNvPicPr>
            <a:picLocks noChangeAspect="1"/>
          </p:cNvPicPr>
          <p:nvPr/>
        </p:nvPicPr>
        <p:blipFill>
          <a:blip r:embed="rId5"/>
          <a:stretch>
            <a:fillRect/>
          </a:stretch>
        </p:blipFill>
        <p:spPr>
          <a:xfrm>
            <a:off x="8396935" y="2124151"/>
            <a:ext cx="241402" cy="241402"/>
          </a:xfrm>
          <a:prstGeom prst="rect">
            <a:avLst/>
          </a:prstGeom>
        </p:spPr>
      </p:pic>
      <p:sp>
        <p:nvSpPr>
          <p:cNvPr id="18" name="Text 13"/>
          <p:cNvSpPr/>
          <p:nvPr/>
        </p:nvSpPr>
        <p:spPr>
          <a:xfrm>
            <a:off x="8878824" y="1975104"/>
            <a:ext cx="2697480" cy="548640"/>
          </a:xfrm>
          <a:prstGeom prst="rect">
            <a:avLst/>
          </a:prstGeom>
          <a:noFill/>
          <a:ln/>
        </p:spPr>
        <p:txBody>
          <a:bodyPr wrap="square" lIns="0" tIns="0" rIns="0" bIns="0" rtlCol="0" anchor="t"/>
          <a:lstStyle/>
          <a:p>
            <a:pPr marL="0" indent="0">
              <a:buNone/>
            </a:pPr>
            <a:r>
              <a:rPr lang="en-US" sz="1300" b="1" dirty="0">
                <a:solidFill>
                  <a:srgbClr val="14213D"/>
                </a:solidFill>
                <a:latin typeface="Calibri" pitchFamily="34" charset="0"/>
                <a:ea typeface="Calibri" pitchFamily="34" charset="-122"/>
                <a:cs typeface="Calibri" pitchFamily="34" charset="-120"/>
              </a:rPr>
              <a:t>Predictive Analytics</a:t>
            </a:r>
            <a:endParaRPr lang="en-US" sz="1300" dirty="0"/>
          </a:p>
        </p:txBody>
      </p:sp>
      <p:sp>
        <p:nvSpPr>
          <p:cNvPr id="19" name="Text 14"/>
          <p:cNvSpPr/>
          <p:nvPr/>
        </p:nvSpPr>
        <p:spPr>
          <a:xfrm>
            <a:off x="8284464" y="2606040"/>
            <a:ext cx="3246120" cy="1051560"/>
          </a:xfrm>
          <a:prstGeom prst="rect">
            <a:avLst/>
          </a:prstGeom>
          <a:noFill/>
          <a:ln/>
        </p:spPr>
        <p:txBody>
          <a:bodyPr wrap="square" lIns="0" tIns="0" rIns="0" bIns="0" rtlCol="0" anchor="ctr"/>
          <a:lstStyle/>
          <a:p>
            <a:pPr marL="0" indent="0">
              <a:lnSpc>
                <a:spcPct val="118000"/>
              </a:lnSpc>
              <a:buNone/>
            </a:pPr>
            <a:r>
              <a:rPr lang="en-US" sz="1000" dirty="0">
                <a:solidFill>
                  <a:srgbClr val="5C6B8A"/>
                </a:solidFill>
                <a:latin typeface="Calibri" pitchFamily="34" charset="0"/>
                <a:ea typeface="Calibri" pitchFamily="34" charset="-122"/>
                <a:cs typeface="Calibri" pitchFamily="34" charset="-120"/>
              </a:rPr>
              <a:t>Sprint risk forecasting and burnout/workload alerts, extending the existing prediction engine.</a:t>
            </a:r>
            <a:endParaRPr lang="en-US" sz="1000" dirty="0"/>
          </a:p>
        </p:txBody>
      </p:sp>
      <p:sp>
        <p:nvSpPr>
          <p:cNvPr id="20" name="Shape 15"/>
          <p:cNvSpPr/>
          <p:nvPr/>
        </p:nvSpPr>
        <p:spPr>
          <a:xfrm>
            <a:off x="548640" y="3959352"/>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21" name="Shape 16"/>
          <p:cNvSpPr/>
          <p:nvPr/>
        </p:nvSpPr>
        <p:spPr>
          <a:xfrm>
            <a:off x="713232" y="4123944"/>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22" name="Image 3" descr="./icons/code_dark.png"/>
          <p:cNvPicPr>
            <a:picLocks noChangeAspect="1"/>
          </p:cNvPicPr>
          <p:nvPr/>
        </p:nvPicPr>
        <p:blipFill>
          <a:blip r:embed="rId6"/>
          <a:stretch>
            <a:fillRect/>
          </a:stretch>
        </p:blipFill>
        <p:spPr>
          <a:xfrm>
            <a:off x="843991" y="4254703"/>
            <a:ext cx="241402" cy="241402"/>
          </a:xfrm>
          <a:prstGeom prst="rect">
            <a:avLst/>
          </a:prstGeom>
        </p:spPr>
      </p:pic>
      <p:sp>
        <p:nvSpPr>
          <p:cNvPr id="23" name="Text 17"/>
          <p:cNvSpPr/>
          <p:nvPr/>
        </p:nvSpPr>
        <p:spPr>
          <a:xfrm>
            <a:off x="1325880" y="4105656"/>
            <a:ext cx="2697480" cy="548640"/>
          </a:xfrm>
          <a:prstGeom prst="rect">
            <a:avLst/>
          </a:prstGeom>
          <a:noFill/>
          <a:ln/>
        </p:spPr>
        <p:txBody>
          <a:bodyPr wrap="square" lIns="0" tIns="0" rIns="0" bIns="0" rtlCol="0" anchor="t"/>
          <a:lstStyle/>
          <a:p>
            <a:pPr marL="0" indent="0">
              <a:buNone/>
            </a:pPr>
            <a:r>
              <a:rPr lang="en-US" sz="1300" b="1" dirty="0">
                <a:solidFill>
                  <a:srgbClr val="14213D"/>
                </a:solidFill>
                <a:latin typeface="Calibri" pitchFamily="34" charset="0"/>
                <a:ea typeface="Calibri" pitchFamily="34" charset="-122"/>
                <a:cs typeface="Calibri" pitchFamily="34" charset="-120"/>
              </a:rPr>
              <a:t>GraphQL API Support</a:t>
            </a:r>
            <a:endParaRPr lang="en-US" sz="1300" dirty="0"/>
          </a:p>
        </p:txBody>
      </p:sp>
      <p:sp>
        <p:nvSpPr>
          <p:cNvPr id="24" name="Text 18"/>
          <p:cNvSpPr/>
          <p:nvPr/>
        </p:nvSpPr>
        <p:spPr>
          <a:xfrm>
            <a:off x="731520" y="4736592"/>
            <a:ext cx="3246120" cy="1051560"/>
          </a:xfrm>
          <a:prstGeom prst="rect">
            <a:avLst/>
          </a:prstGeom>
          <a:noFill/>
          <a:ln/>
        </p:spPr>
        <p:txBody>
          <a:bodyPr wrap="square" lIns="0" tIns="0" rIns="0" bIns="0" rtlCol="0" anchor="ctr"/>
          <a:lstStyle/>
          <a:p>
            <a:pPr marL="0" indent="0">
              <a:lnSpc>
                <a:spcPct val="118000"/>
              </a:lnSpc>
              <a:buNone/>
            </a:pPr>
            <a:r>
              <a:rPr lang="en-US" sz="1000" dirty="0">
                <a:solidFill>
                  <a:srgbClr val="5C6B8A"/>
                </a:solidFill>
                <a:latin typeface="Calibri" pitchFamily="34" charset="0"/>
                <a:ea typeface="Calibri" pitchFamily="34" charset="-122"/>
                <a:cs typeface="Calibri" pitchFamily="34" charset="-120"/>
              </a:rPr>
              <a:t>Multi-client data aggregation for agencies pulling cross-workspace reporting.</a:t>
            </a:r>
            <a:endParaRPr lang="en-US" sz="1000" dirty="0"/>
          </a:p>
        </p:txBody>
      </p:sp>
      <p:sp>
        <p:nvSpPr>
          <p:cNvPr id="25" name="Shape 19"/>
          <p:cNvSpPr/>
          <p:nvPr/>
        </p:nvSpPr>
        <p:spPr>
          <a:xfrm>
            <a:off x="4325112" y="3959352"/>
            <a:ext cx="3611880" cy="1965960"/>
          </a:xfrm>
          <a:prstGeom prst="roundRect">
            <a:avLst>
              <a:gd name="adj" fmla="val 4186"/>
            </a:avLst>
          </a:prstGeom>
          <a:solidFill>
            <a:srgbClr val="EDF2FB"/>
          </a:solidFill>
          <a:ln/>
          <a:effectLst>
            <a:outerShdw blurRad="76200" dist="25400" dir="2700000" algn="bl" rotWithShape="0">
              <a:srgbClr val="000000">
                <a:alpha val="10000"/>
              </a:srgbClr>
            </a:outerShdw>
          </a:effectLst>
        </p:spPr>
      </p:sp>
      <p:sp>
        <p:nvSpPr>
          <p:cNvPr id="26" name="Shape 20"/>
          <p:cNvSpPr/>
          <p:nvPr/>
        </p:nvSpPr>
        <p:spPr>
          <a:xfrm>
            <a:off x="4489704" y="4123944"/>
            <a:ext cx="502920" cy="502920"/>
          </a:xfrm>
          <a:prstGeom prst="ellipse">
            <a:avLst/>
          </a:prstGeom>
          <a:solidFill>
            <a:srgbClr val="DCE5F7"/>
          </a:solidFill>
          <a:ln/>
          <a:effectLst>
            <a:outerShdw blurRad="76200" dist="25400" dir="2700000" algn="bl" rotWithShape="0">
              <a:srgbClr val="000000">
                <a:alpha val="10000"/>
              </a:srgbClr>
            </a:outerShdw>
          </a:effectLst>
        </p:spPr>
      </p:sp>
      <p:pic>
        <p:nvPicPr>
          <p:cNvPr id="27" name="Image 4" descr="./icons/building_dark.png"/>
          <p:cNvPicPr>
            <a:picLocks noChangeAspect="1"/>
          </p:cNvPicPr>
          <p:nvPr/>
        </p:nvPicPr>
        <p:blipFill>
          <a:blip r:embed="rId7"/>
          <a:stretch>
            <a:fillRect/>
          </a:stretch>
        </p:blipFill>
        <p:spPr>
          <a:xfrm>
            <a:off x="4620463" y="4254703"/>
            <a:ext cx="241402" cy="241402"/>
          </a:xfrm>
          <a:prstGeom prst="rect">
            <a:avLst/>
          </a:prstGeom>
        </p:spPr>
      </p:pic>
      <p:sp>
        <p:nvSpPr>
          <p:cNvPr id="28" name="Text 21"/>
          <p:cNvSpPr/>
          <p:nvPr/>
        </p:nvSpPr>
        <p:spPr>
          <a:xfrm>
            <a:off x="5102352" y="4105656"/>
            <a:ext cx="2697480" cy="548640"/>
          </a:xfrm>
          <a:prstGeom prst="rect">
            <a:avLst/>
          </a:prstGeom>
          <a:noFill/>
          <a:ln/>
        </p:spPr>
        <p:txBody>
          <a:bodyPr wrap="square" lIns="0" tIns="0" rIns="0" bIns="0" rtlCol="0" anchor="t"/>
          <a:lstStyle/>
          <a:p>
            <a:pPr marL="0" indent="0">
              <a:buNone/>
            </a:pPr>
            <a:r>
              <a:rPr lang="en-US" sz="1300" b="1" dirty="0">
                <a:solidFill>
                  <a:srgbClr val="14213D"/>
                </a:solidFill>
                <a:latin typeface="Calibri" pitchFamily="34" charset="0"/>
                <a:ea typeface="Calibri" pitchFamily="34" charset="-122"/>
                <a:cs typeface="Calibri" pitchFamily="34" charset="-120"/>
              </a:rPr>
              <a:t>Self-Service Storefront</a:t>
            </a:r>
            <a:endParaRPr lang="en-US" sz="1300" dirty="0"/>
          </a:p>
        </p:txBody>
      </p:sp>
      <p:sp>
        <p:nvSpPr>
          <p:cNvPr id="29" name="Text 22"/>
          <p:cNvSpPr/>
          <p:nvPr/>
        </p:nvSpPr>
        <p:spPr>
          <a:xfrm>
            <a:off x="4507992" y="4736592"/>
            <a:ext cx="3246120" cy="1051560"/>
          </a:xfrm>
          <a:prstGeom prst="rect">
            <a:avLst/>
          </a:prstGeom>
          <a:noFill/>
          <a:ln/>
        </p:spPr>
        <p:txBody>
          <a:bodyPr wrap="square" lIns="0" tIns="0" rIns="0" bIns="0" rtlCol="0" anchor="ctr"/>
          <a:lstStyle/>
          <a:p>
            <a:pPr marL="0" indent="0">
              <a:lnSpc>
                <a:spcPct val="118000"/>
              </a:lnSpc>
              <a:buNone/>
            </a:pPr>
            <a:r>
              <a:rPr lang="en-US" sz="1000" dirty="0">
                <a:solidFill>
                  <a:srgbClr val="5C6B8A"/>
                </a:solidFill>
                <a:latin typeface="Calibri" pitchFamily="34" charset="0"/>
                <a:ea typeface="Calibri" pitchFamily="34" charset="-122"/>
                <a:cs typeface="Calibri" pitchFamily="34" charset="-120"/>
              </a:rPr>
              <a:t>White-label storefront letting agencies onboard their own clients without manual setup.</a:t>
            </a:r>
            <a:endParaRPr lang="en-US" sz="1000" dirty="0"/>
          </a:p>
        </p:txBody>
      </p:sp>
      <p:pic>
        <p:nvPicPr>
          <p:cNvPr id="30" name="Image 5" descr="./icons/arrow_left_white.png">
            <a:hlinkClick r:id="rId8" action="ppaction://hlinksldjump"/>
          </p:cNvPr>
          <p:cNvPicPr>
            <a:picLocks noChangeAspect="1"/>
          </p:cNvPicPr>
          <p:nvPr/>
        </p:nvPicPr>
        <p:blipFill>
          <a:blip r:embed="rId9"/>
          <a:stretch>
            <a:fillRect/>
          </a:stretch>
        </p:blipFill>
        <p:spPr>
          <a:xfrm>
            <a:off x="548640" y="6382512"/>
            <a:ext cx="201168" cy="201168"/>
          </a:xfrm>
          <a:prstGeom prst="rect">
            <a:avLst/>
          </a:prstGeom>
        </p:spPr>
      </p:pic>
      <p:sp>
        <p:nvSpPr>
          <p:cNvPr id="31" name="Shape 23">
            <a:hlinkClick r:id="rId8" action="ppaction://hlinksldjump"/>
          </p:cNvPr>
          <p:cNvSpPr/>
          <p:nvPr/>
        </p:nvSpPr>
        <p:spPr>
          <a:xfrm>
            <a:off x="548640" y="6355080"/>
            <a:ext cx="2377440" cy="365760"/>
          </a:xfrm>
          <a:prstGeom prst="rect">
            <a:avLst/>
          </a:prstGeom>
          <a:solidFill>
            <a:srgbClr val="14213D">
              <a:alpha val="0"/>
            </a:srgbClr>
          </a:solidFill>
          <a:ln/>
        </p:spPr>
      </p:sp>
      <p:sp>
        <p:nvSpPr>
          <p:cNvPr id="32" name="Text 24">
            <a:hlinkClick r:id="rId8" action="ppaction://hlinksldjump"/>
          </p:cNvPr>
          <p:cNvSpPr/>
          <p:nvPr/>
        </p:nvSpPr>
        <p:spPr>
          <a:xfrm>
            <a:off x="841248" y="6355080"/>
            <a:ext cx="2377440" cy="365760"/>
          </a:xfrm>
          <a:prstGeom prst="rect">
            <a:avLst/>
          </a:prstGeom>
          <a:noFill/>
          <a:ln/>
        </p:spPr>
        <p:txBody>
          <a:bodyPr wrap="square" lIns="0" tIns="0" rIns="0" bIns="0" rtlCol="0" anchor="ctr"/>
          <a:lstStyle/>
          <a:p>
            <a:pPr marL="0" indent="0">
              <a:buNone/>
            </a:pPr>
            <a:r>
              <a:rPr lang="en-US" sz="1100" b="1" u="sng" dirty="0">
                <a:solidFill>
                  <a:srgbClr val="14213D"/>
                </a:solidFill>
                <a:latin typeface="Calibri" pitchFamily="34" charset="0"/>
                <a:ea typeface="Calibri" pitchFamily="34" charset="-122"/>
                <a:cs typeface="Calibri" pitchFamily="34" charset="-120"/>
                <a:hlinkClick r:id="rId8" action="ppaction://hlinksldjump">
                  <a:extLst>
                    <a:ext uri="{A12FA001-AC4F-418D-AE19-62706E023703}">
                      <ahyp:hlinkClr xmlns:ahyp="http://schemas.microsoft.com/office/drawing/2018/hyperlinkcolor" val="tx"/>
                    </a:ext>
                  </a:extLst>
                </a:hlinkClick>
              </a:rPr>
              <a:t>BACK TO REVIEW BOARD</a:t>
            </a:r>
            <a:endParaRPr lang="en-US" sz="1100" dirty="0"/>
          </a:p>
        </p:txBody>
      </p:sp>
      <p:sp>
        <p:nvSpPr>
          <p:cNvPr id="33" name="Text 25"/>
          <p:cNvSpPr/>
          <p:nvPr/>
        </p:nvSpPr>
        <p:spPr>
          <a:xfrm>
            <a:off x="8595360" y="6382512"/>
            <a:ext cx="3017520" cy="274320"/>
          </a:xfrm>
          <a:prstGeom prst="rect">
            <a:avLst/>
          </a:prstGeom>
          <a:noFill/>
          <a:ln/>
        </p:spPr>
        <p:txBody>
          <a:bodyPr wrap="square" lIns="0" tIns="0" rIns="0" bIns="0" rtlCol="0" anchor="ctr"/>
          <a:lstStyle/>
          <a:p>
            <a:pPr marL="0" indent="0" algn="r">
              <a:buNone/>
            </a:pPr>
            <a:r>
              <a:rPr lang="en-US" sz="1000" dirty="0">
                <a:solidFill>
                  <a:srgbClr val="A6B0C8"/>
                </a:solidFill>
                <a:latin typeface="Calibri" pitchFamily="34" charset="0"/>
                <a:ea typeface="Calibri" pitchFamily="34" charset="-122"/>
                <a:cs typeface="Calibri" pitchFamily="34" charset="-120"/>
              </a:rPr>
              <a:t>Cadence Review · Roadmap</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686800" y="-1645920"/>
            <a:ext cx="5029200" cy="5029200"/>
          </a:xfrm>
          <a:prstGeom prst="ellipse">
            <a:avLst/>
          </a:prstGeom>
          <a:solidFill>
            <a:srgbClr val="1E2761">
              <a:alpha val="65000"/>
            </a:srgbClr>
          </a:solidFill>
          <a:ln/>
        </p:spPr>
      </p:sp>
      <p:sp>
        <p:nvSpPr>
          <p:cNvPr id="3" name="Text 1"/>
          <p:cNvSpPr/>
          <p:nvPr/>
        </p:nvSpPr>
        <p:spPr>
          <a:xfrm>
            <a:off x="640080" y="548640"/>
            <a:ext cx="7315200" cy="274320"/>
          </a:xfrm>
          <a:prstGeom prst="rect">
            <a:avLst/>
          </a:prstGeom>
          <a:noFill/>
          <a:ln/>
        </p:spPr>
        <p:txBody>
          <a:bodyPr wrap="square" lIns="0" tIns="0" rIns="0" bIns="0" rtlCol="0" anchor="ctr"/>
          <a:lstStyle/>
          <a:p>
            <a:pPr marL="0" indent="0">
              <a:buNone/>
            </a:pPr>
            <a:r>
              <a:rPr lang="en-US" sz="1200" b="1" kern="0" spc="200" dirty="0">
                <a:solidFill>
                  <a:srgbClr val="A8C6FA"/>
                </a:solidFill>
                <a:latin typeface="Calibri" pitchFamily="34" charset="0"/>
                <a:ea typeface="Calibri" pitchFamily="34" charset="-122"/>
                <a:cs typeface="Calibri" pitchFamily="34" charset="-120"/>
              </a:rPr>
              <a:t>SECTION 09 · TheOrionGD'S ASSESSMENT</a:t>
            </a:r>
            <a:endParaRPr lang="en-US" sz="1200" dirty="0"/>
          </a:p>
        </p:txBody>
      </p:sp>
      <p:sp>
        <p:nvSpPr>
          <p:cNvPr id="4" name="Text 2"/>
          <p:cNvSpPr/>
          <p:nvPr/>
        </p:nvSpPr>
        <p:spPr>
          <a:xfrm>
            <a:off x="640080" y="841248"/>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Feasibility Verdict</a:t>
            </a:r>
            <a:endParaRPr lang="en-US" sz="3200" dirty="0"/>
          </a:p>
        </p:txBody>
      </p:sp>
      <p:sp>
        <p:nvSpPr>
          <p:cNvPr id="5" name="Shape 3"/>
          <p:cNvSpPr/>
          <p:nvPr/>
        </p:nvSpPr>
        <p:spPr>
          <a:xfrm>
            <a:off x="8229600" y="685800"/>
            <a:ext cx="3383280" cy="868680"/>
          </a:xfrm>
          <a:prstGeom prst="roundRect">
            <a:avLst>
              <a:gd name="adj" fmla="val 10526"/>
            </a:avLst>
          </a:prstGeom>
          <a:solidFill>
            <a:srgbClr val="E05C2A"/>
          </a:solidFill>
          <a:ln/>
          <a:effectLst>
            <a:outerShdw blurRad="101600" dist="38100" dir="2700000" algn="bl" rotWithShape="0">
              <a:srgbClr val="000000">
                <a:alpha val="18000"/>
              </a:srgbClr>
            </a:outerShdw>
          </a:effectLst>
        </p:spPr>
      </p:sp>
      <p:sp>
        <p:nvSpPr>
          <p:cNvPr id="6" name="Text 4"/>
          <p:cNvSpPr/>
          <p:nvPr/>
        </p:nvSpPr>
        <p:spPr>
          <a:xfrm>
            <a:off x="8229600" y="685800"/>
            <a:ext cx="338328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APPROVED FOR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DEVELOPMENT</a:t>
            </a:r>
            <a:endParaRPr lang="en-US" sz="1300" dirty="0"/>
          </a:p>
        </p:txBody>
      </p:sp>
      <p:sp>
        <p:nvSpPr>
          <p:cNvPr id="7" name="Text 5"/>
          <p:cNvSpPr/>
          <p:nvPr/>
        </p:nvSpPr>
        <p:spPr>
          <a:xfrm>
            <a:off x="640080" y="1828800"/>
            <a:ext cx="10607040" cy="1005840"/>
          </a:xfrm>
          <a:prstGeom prst="rect">
            <a:avLst/>
          </a:prstGeom>
          <a:noFill/>
          <a:ln/>
        </p:spPr>
        <p:txBody>
          <a:bodyPr wrap="square" lIns="0" tIns="0" rIns="0" bIns="0" rtlCol="0" anchor="ctr"/>
          <a:lstStyle/>
          <a:p>
            <a:pPr marL="0" indent="0">
              <a:lnSpc>
                <a:spcPct val="130000"/>
              </a:lnSpc>
              <a:buNone/>
            </a:pPr>
            <a:r>
              <a:rPr lang="en-US" sz="1350" dirty="0">
                <a:solidFill>
                  <a:srgbClr val="D5DAEF"/>
                </a:solidFill>
                <a:latin typeface="Calibri" pitchFamily="34" charset="0"/>
                <a:ea typeface="Calibri" pitchFamily="34" charset="-122"/>
                <a:cs typeface="Calibri" pitchFamily="34" charset="-120"/>
              </a:rPr>
              <a:t>Cadence is architecturally sound: it relies on a current, type-safe stack, separates the AI inference layer from core business logic for independent scaling, and enforces tenant isolation at both the API and database (RLS) layers. The premium feature set is gated and billed at the API layer, not just hidden in the UI — a meaningful signal for monetization integrity.</a:t>
            </a:r>
            <a:endParaRPr lang="en-US" sz="1350" dirty="0"/>
          </a:p>
        </p:txBody>
      </p:sp>
      <p:sp>
        <p:nvSpPr>
          <p:cNvPr id="8" name="Shape 6"/>
          <p:cNvSpPr/>
          <p:nvPr/>
        </p:nvSpPr>
        <p:spPr>
          <a:xfrm>
            <a:off x="640080" y="3017520"/>
            <a:ext cx="3611880" cy="2743200"/>
          </a:xfrm>
          <a:prstGeom prst="roundRect">
            <a:avLst>
              <a:gd name="adj" fmla="val 3333"/>
            </a:avLst>
          </a:prstGeom>
          <a:solidFill>
            <a:srgbClr val="1A2550"/>
          </a:solidFill>
          <a:ln w="12700">
            <a:solidFill>
              <a:srgbClr val="31407A"/>
            </a:solidFill>
            <a:prstDash val="solid"/>
          </a:ln>
        </p:spPr>
      </p:sp>
      <p:pic>
        <p:nvPicPr>
          <p:cNvPr id="9" name="Image 0" descr="./icons/server_white.png"/>
          <p:cNvPicPr>
            <a:picLocks noChangeAspect="1"/>
          </p:cNvPicPr>
          <p:nvPr/>
        </p:nvPicPr>
        <p:blipFill>
          <a:blip r:embed="rId3"/>
          <a:stretch>
            <a:fillRect/>
          </a:stretch>
        </p:blipFill>
        <p:spPr>
          <a:xfrm>
            <a:off x="841248" y="3218688"/>
            <a:ext cx="365760" cy="365760"/>
          </a:xfrm>
          <a:prstGeom prst="rect">
            <a:avLst/>
          </a:prstGeom>
        </p:spPr>
      </p:pic>
      <p:sp>
        <p:nvSpPr>
          <p:cNvPr id="10" name="Text 7"/>
          <p:cNvSpPr/>
          <p:nvPr/>
        </p:nvSpPr>
        <p:spPr>
          <a:xfrm>
            <a:off x="1325880" y="3182112"/>
            <a:ext cx="269748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Technical Soundness</a:t>
            </a:r>
            <a:endParaRPr lang="en-US" sz="1300" dirty="0"/>
          </a:p>
        </p:txBody>
      </p:sp>
      <p:sp>
        <p:nvSpPr>
          <p:cNvPr id="11" name="Text 8"/>
          <p:cNvSpPr/>
          <p:nvPr/>
        </p:nvSpPr>
        <p:spPr>
          <a:xfrm>
            <a:off x="914400" y="3730752"/>
            <a:ext cx="3063240" cy="1874520"/>
          </a:xfrm>
          <a:prstGeom prst="rect">
            <a:avLst/>
          </a:prstGeom>
          <a:noFill/>
          <a:ln/>
        </p:spPr>
        <p:txBody>
          <a:bodyPr wrap="square" lIns="0" tIns="0" rIns="0" bIns="0" rtlCol="0" anchor="ctr"/>
          <a:lstStyle/>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Stateless, horizontally scalable backend</a:t>
            </a:r>
            <a:endParaRPr lang="en-US" sz="950" dirty="0"/>
          </a:p>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Type safety end-to-end via TypeScript + Zod</a:t>
            </a:r>
            <a:endParaRPr lang="en-US" sz="950" dirty="0"/>
          </a:p>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AI inference decoupled from business logic</a:t>
            </a:r>
            <a:endParaRPr lang="en-US" sz="950" dirty="0"/>
          </a:p>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Multi-model routing avoids single-provider lock-in</a:t>
            </a:r>
            <a:endParaRPr lang="en-US" sz="950" dirty="0"/>
          </a:p>
        </p:txBody>
      </p:sp>
      <p:sp>
        <p:nvSpPr>
          <p:cNvPr id="12" name="Shape 9"/>
          <p:cNvSpPr/>
          <p:nvPr/>
        </p:nvSpPr>
        <p:spPr>
          <a:xfrm>
            <a:off x="4343400" y="3017520"/>
            <a:ext cx="3611880" cy="2743200"/>
          </a:xfrm>
          <a:prstGeom prst="roundRect">
            <a:avLst>
              <a:gd name="adj" fmla="val 3333"/>
            </a:avLst>
          </a:prstGeom>
          <a:solidFill>
            <a:srgbClr val="1A2550"/>
          </a:solidFill>
          <a:ln w="12700">
            <a:solidFill>
              <a:srgbClr val="31407A"/>
            </a:solidFill>
            <a:prstDash val="solid"/>
          </a:ln>
        </p:spPr>
      </p:sp>
      <p:pic>
        <p:nvPicPr>
          <p:cNvPr id="13" name="Image 1" descr="./icons/lock_white.png"/>
          <p:cNvPicPr>
            <a:picLocks noChangeAspect="1"/>
          </p:cNvPicPr>
          <p:nvPr/>
        </p:nvPicPr>
        <p:blipFill>
          <a:blip r:embed="rId4"/>
          <a:stretch>
            <a:fillRect/>
          </a:stretch>
        </p:blipFill>
        <p:spPr>
          <a:xfrm>
            <a:off x="4544568" y="3218688"/>
            <a:ext cx="365760" cy="365760"/>
          </a:xfrm>
          <a:prstGeom prst="rect">
            <a:avLst/>
          </a:prstGeom>
        </p:spPr>
      </p:pic>
      <p:sp>
        <p:nvSpPr>
          <p:cNvPr id="14" name="Text 10"/>
          <p:cNvSpPr/>
          <p:nvPr/>
        </p:nvSpPr>
        <p:spPr>
          <a:xfrm>
            <a:off x="5029200" y="3182112"/>
            <a:ext cx="269748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Security &amp; Compliance</a:t>
            </a:r>
            <a:endParaRPr lang="en-US" sz="1300" dirty="0"/>
          </a:p>
        </p:txBody>
      </p:sp>
      <p:sp>
        <p:nvSpPr>
          <p:cNvPr id="15" name="Text 11"/>
          <p:cNvSpPr/>
          <p:nvPr/>
        </p:nvSpPr>
        <p:spPr>
          <a:xfrm>
            <a:off x="4617720" y="3730752"/>
            <a:ext cx="3063240" cy="1874520"/>
          </a:xfrm>
          <a:prstGeom prst="rect">
            <a:avLst/>
          </a:prstGeom>
          <a:noFill/>
          <a:ln/>
        </p:spPr>
        <p:txBody>
          <a:bodyPr wrap="square" lIns="0" tIns="0" rIns="0" bIns="0" rtlCol="0" anchor="ctr"/>
          <a:lstStyle/>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Row-Level Security enforces workspace isolation</a:t>
            </a:r>
            <a:endParaRPr lang="en-US" sz="950" dirty="0"/>
          </a:p>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Code sandbox fully isolated, no host access</a:t>
            </a:r>
            <a:endParaRPr lang="en-US" sz="950" dirty="0"/>
          </a:p>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AI input/output sanitized against prompt injection</a:t>
            </a:r>
            <a:endParaRPr lang="en-US" sz="950" dirty="0"/>
          </a:p>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GDPR/CCPA-ready audit log and export</a:t>
            </a:r>
            <a:endParaRPr lang="en-US" sz="950" dirty="0"/>
          </a:p>
        </p:txBody>
      </p:sp>
      <p:sp>
        <p:nvSpPr>
          <p:cNvPr id="16" name="Shape 12"/>
          <p:cNvSpPr/>
          <p:nvPr/>
        </p:nvSpPr>
        <p:spPr>
          <a:xfrm>
            <a:off x="8046720" y="3017520"/>
            <a:ext cx="3611880" cy="2743200"/>
          </a:xfrm>
          <a:prstGeom prst="roundRect">
            <a:avLst>
              <a:gd name="adj" fmla="val 3333"/>
            </a:avLst>
          </a:prstGeom>
          <a:solidFill>
            <a:srgbClr val="1A2550"/>
          </a:solidFill>
          <a:ln w="12700">
            <a:solidFill>
              <a:srgbClr val="31407A"/>
            </a:solidFill>
            <a:prstDash val="solid"/>
          </a:ln>
        </p:spPr>
      </p:sp>
      <p:pic>
        <p:nvPicPr>
          <p:cNvPr id="17" name="Image 2" descr="./icons/coins_dark.png"/>
          <p:cNvPicPr>
            <a:picLocks noChangeAspect="1"/>
          </p:cNvPicPr>
          <p:nvPr/>
        </p:nvPicPr>
        <p:blipFill>
          <a:blip r:embed="rId5"/>
          <a:stretch>
            <a:fillRect/>
          </a:stretch>
        </p:blipFill>
        <p:spPr>
          <a:xfrm>
            <a:off x="8247888" y="3218688"/>
            <a:ext cx="365760" cy="365760"/>
          </a:xfrm>
          <a:prstGeom prst="rect">
            <a:avLst/>
          </a:prstGeom>
        </p:spPr>
      </p:pic>
      <p:sp>
        <p:nvSpPr>
          <p:cNvPr id="18" name="Text 13"/>
          <p:cNvSpPr/>
          <p:nvPr/>
        </p:nvSpPr>
        <p:spPr>
          <a:xfrm>
            <a:off x="8732520" y="3182112"/>
            <a:ext cx="269748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Monetization Readiness</a:t>
            </a:r>
            <a:endParaRPr lang="en-US" sz="1300" dirty="0"/>
          </a:p>
        </p:txBody>
      </p:sp>
      <p:sp>
        <p:nvSpPr>
          <p:cNvPr id="19" name="Text 14"/>
          <p:cNvSpPr/>
          <p:nvPr/>
        </p:nvSpPr>
        <p:spPr>
          <a:xfrm>
            <a:off x="8321040" y="3730752"/>
            <a:ext cx="3063240" cy="1874520"/>
          </a:xfrm>
          <a:prstGeom prst="rect">
            <a:avLst/>
          </a:prstGeom>
          <a:noFill/>
          <a:ln/>
        </p:spPr>
        <p:txBody>
          <a:bodyPr wrap="square" lIns="0" tIns="0" rIns="0" bIns="0" rtlCol="0" anchor="ctr"/>
          <a:lstStyle/>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Three-tier model (Free / Pro / Enterprise)</a:t>
            </a:r>
            <a:endParaRPr lang="en-US" sz="950" dirty="0"/>
          </a:p>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Usage gating enforced at the API, not just UI</a:t>
            </a:r>
            <a:endParaRPr lang="en-US" sz="950" dirty="0"/>
          </a:p>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Agency Portfolio Mode opens a managed-service channel</a:t>
            </a:r>
            <a:endParaRPr lang="en-US" sz="950" dirty="0"/>
          </a:p>
          <a:p>
            <a:pPr marL="342900" indent="-342900">
              <a:lnSpc>
                <a:spcPct val="125000"/>
              </a:lnSpc>
              <a:spcAft>
                <a:spcPts val="600"/>
              </a:spcAft>
              <a:buSzPct val="100000"/>
              <a:buChar char="✓"/>
            </a:pPr>
            <a:r>
              <a:rPr lang="en-US" sz="950" dirty="0">
                <a:solidFill>
                  <a:srgbClr val="D5DAEF"/>
                </a:solidFill>
                <a:latin typeface="Calibri" pitchFamily="34" charset="0"/>
                <a:ea typeface="Calibri" pitchFamily="34" charset="-122"/>
                <a:cs typeface="Calibri" pitchFamily="34" charset="-120"/>
              </a:rPr>
              <a:t>7-day trial on the premium sandbox drives conversion</a:t>
            </a:r>
            <a:endParaRPr lang="en-US" sz="950" dirty="0"/>
          </a:p>
        </p:txBody>
      </p:sp>
      <p:pic>
        <p:nvPicPr>
          <p:cNvPr id="20" name="Image 3" descr="./icons/arrow_left_white.png">
            <a:hlinkClick r:id="rId6" action="ppaction://hlinksldjump"/>
          </p:cNvPr>
          <p:cNvPicPr>
            <a:picLocks noChangeAspect="1"/>
          </p:cNvPicPr>
          <p:nvPr/>
        </p:nvPicPr>
        <p:blipFill>
          <a:blip r:embed="rId7"/>
          <a:stretch>
            <a:fillRect/>
          </a:stretch>
        </p:blipFill>
        <p:spPr>
          <a:xfrm>
            <a:off x="548640" y="6355080"/>
            <a:ext cx="201168" cy="201168"/>
          </a:xfrm>
          <a:prstGeom prst="rect">
            <a:avLst/>
          </a:prstGeom>
        </p:spPr>
      </p:pic>
      <p:sp>
        <p:nvSpPr>
          <p:cNvPr id="21" name="Text 15">
            <a:hlinkClick r:id="rId6" action="ppaction://hlinksldjump"/>
          </p:cNvPr>
          <p:cNvSpPr/>
          <p:nvPr/>
        </p:nvSpPr>
        <p:spPr>
          <a:xfrm>
            <a:off x="841248" y="6327648"/>
            <a:ext cx="2743200" cy="365760"/>
          </a:xfrm>
          <a:prstGeom prst="rect">
            <a:avLst/>
          </a:prstGeom>
          <a:noFill/>
          <a:ln/>
        </p:spPr>
        <p:txBody>
          <a:bodyPr wrap="square" lIns="0" tIns="0" rIns="0" bIns="0" rtlCol="0" anchor="ctr"/>
          <a:lstStyle/>
          <a:p>
            <a:pPr marL="0" indent="0">
              <a:buNone/>
            </a:pPr>
            <a:r>
              <a:rPr lang="en-US" sz="1100" b="1" u="sng" dirty="0">
                <a:solidFill>
                  <a:srgbClr val="C2CBE8"/>
                </a:solidFill>
                <a:latin typeface="Calibri" pitchFamily="34" charset="0"/>
                <a:ea typeface="Calibri" pitchFamily="34" charset="-122"/>
                <a:cs typeface="Calibri" pitchFamily="34" charset="-120"/>
                <a:hlinkClick r:id="rId6" action="ppaction://hlinksldjump">
                  <a:extLst>
                    <a:ext uri="{A12FA001-AC4F-418D-AE19-62706E023703}">
                      <ahyp:hlinkClr xmlns:ahyp="http://schemas.microsoft.com/office/drawing/2018/hyperlinkcolor" val="tx"/>
                    </a:ext>
                  </a:extLst>
                </a:hlinkClick>
              </a:rPr>
              <a:t>BACK TO REVIEW BOARD</a:t>
            </a:r>
            <a:endParaRPr lang="en-US" sz="1100" dirty="0"/>
          </a:p>
        </p:txBody>
      </p:sp>
      <p:sp>
        <p:nvSpPr>
          <p:cNvPr id="22" name="Text 16">
            <a:hlinkClick r:id="rId8" action="ppaction://hlinksldjump"/>
          </p:cNvPr>
          <p:cNvSpPr/>
          <p:nvPr/>
        </p:nvSpPr>
        <p:spPr>
          <a:xfrm>
            <a:off x="7680960" y="6327648"/>
            <a:ext cx="3840480" cy="365760"/>
          </a:xfrm>
          <a:prstGeom prst="rect">
            <a:avLst/>
          </a:prstGeom>
          <a:noFill/>
          <a:ln/>
        </p:spPr>
        <p:txBody>
          <a:bodyPr wrap="square" lIns="0" tIns="0" rIns="0" bIns="0" rtlCol="0" anchor="ctr"/>
          <a:lstStyle/>
          <a:p>
            <a:pPr marL="0" indent="0" algn="r">
              <a:buNone/>
            </a:pPr>
            <a:r>
              <a:rPr lang="en-US" sz="1100" b="1" u="sng" dirty="0">
                <a:solidFill>
                  <a:srgbClr val="A8C6FA"/>
                </a:solidFill>
                <a:latin typeface="Calibri" pitchFamily="34" charset="0"/>
                <a:ea typeface="Calibri" pitchFamily="34" charset="-122"/>
                <a:cs typeface="Calibri" pitchFamily="34" charset="-120"/>
                <a:hlinkClick r:id="rId8" action="ppaction://hlinksldjump">
                  <a:extLst>
                    <a:ext uri="{A12FA001-AC4F-418D-AE19-62706E023703}">
                      <ahyp:hlinkClr xmlns:ahyp="http://schemas.microsoft.com/office/drawing/2018/hyperlinkcolor" val="tx"/>
                    </a:ext>
                  </a:extLst>
                </a:hlinkClick>
              </a:rPr>
              <a:t>CONTINUE TO SANCTION DECISION  →</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E2761">
              <a:alpha val="65000"/>
            </a:srgbClr>
          </a:solidFill>
          <a:ln/>
        </p:spPr>
      </p:sp>
      <p:sp>
        <p:nvSpPr>
          <p:cNvPr id="3" name="Shape 1"/>
          <p:cNvSpPr/>
          <p:nvPr/>
        </p:nvSpPr>
        <p:spPr>
          <a:xfrm>
            <a:off x="5349240" y="868680"/>
            <a:ext cx="1463040" cy="1463040"/>
          </a:xfrm>
          <a:prstGeom prst="ellipse">
            <a:avLst/>
          </a:prstGeom>
          <a:solidFill>
            <a:srgbClr val="3A4A8C"/>
          </a:solidFill>
          <a:ln/>
          <a:effectLst>
            <a:outerShdw blurRad="76200" dist="25400" dir="2700000" algn="bl" rotWithShape="0">
              <a:srgbClr val="000000">
                <a:alpha val="10000"/>
              </a:srgbClr>
            </a:outerShdw>
          </a:effectLst>
        </p:spPr>
      </p:sp>
      <p:pic>
        <p:nvPicPr>
          <p:cNvPr id="4" name="Image 0" descr="./icons/check_white.png"/>
          <p:cNvPicPr>
            <a:picLocks noChangeAspect="1"/>
          </p:cNvPicPr>
          <p:nvPr/>
        </p:nvPicPr>
        <p:blipFill>
          <a:blip r:embed="rId3"/>
          <a:stretch>
            <a:fillRect/>
          </a:stretch>
        </p:blipFill>
        <p:spPr>
          <a:xfrm>
            <a:off x="5729630" y="1249070"/>
            <a:ext cx="702259" cy="702259"/>
          </a:xfrm>
          <a:prstGeom prst="rect">
            <a:avLst/>
          </a:prstGeom>
        </p:spPr>
      </p:pic>
      <p:sp>
        <p:nvSpPr>
          <p:cNvPr id="5" name="Text 2"/>
          <p:cNvSpPr/>
          <p:nvPr/>
        </p:nvSpPr>
        <p:spPr>
          <a:xfrm>
            <a:off x="640080" y="2651760"/>
            <a:ext cx="10972800" cy="457200"/>
          </a:xfrm>
          <a:prstGeom prst="rect">
            <a:avLst/>
          </a:prstGeom>
          <a:noFill/>
          <a:ln/>
        </p:spPr>
        <p:txBody>
          <a:bodyPr wrap="square" lIns="0" tIns="0" rIns="0" bIns="0" rtlCol="0" anchor="ctr"/>
          <a:lstStyle/>
          <a:p>
            <a:pPr marL="0" indent="0" algn="ctr">
              <a:buNone/>
            </a:pPr>
            <a:r>
              <a:rPr lang="en-US" sz="1400" b="1" kern="0" spc="300" dirty="0">
                <a:solidFill>
                  <a:srgbClr val="A8C6FA"/>
                </a:solidFill>
                <a:latin typeface="Calibri" pitchFamily="34" charset="0"/>
                <a:ea typeface="Calibri" pitchFamily="34" charset="-122"/>
                <a:cs typeface="Calibri" pitchFamily="34" charset="-120"/>
              </a:rPr>
              <a:t>PROJECT SANCTIONED</a:t>
            </a:r>
            <a:endParaRPr lang="en-US" sz="1400" dirty="0"/>
          </a:p>
        </p:txBody>
      </p:sp>
      <p:sp>
        <p:nvSpPr>
          <p:cNvPr id="6" name="Text 3"/>
          <p:cNvSpPr/>
          <p:nvPr/>
        </p:nvSpPr>
        <p:spPr>
          <a:xfrm>
            <a:off x="640080" y="3063240"/>
            <a:ext cx="1097280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Cadence moves to Phase 1 — Core Platform Build</a:t>
            </a:r>
            <a:endParaRPr lang="en-US" sz="2800" dirty="0"/>
          </a:p>
        </p:txBody>
      </p:sp>
      <p:sp>
        <p:nvSpPr>
          <p:cNvPr id="7" name="Text 4"/>
          <p:cNvSpPr/>
          <p:nvPr/>
        </p:nvSpPr>
        <p:spPr>
          <a:xfrm>
            <a:off x="640080" y="3931920"/>
            <a:ext cx="10972800" cy="365760"/>
          </a:xfrm>
          <a:prstGeom prst="rect">
            <a:avLst/>
          </a:prstGeom>
          <a:noFill/>
          <a:ln/>
        </p:spPr>
        <p:txBody>
          <a:bodyPr wrap="square" lIns="0" tIns="0" rIns="0" bIns="0" rtlCol="0" anchor="ctr"/>
          <a:lstStyle/>
          <a:p>
            <a:pPr marL="0" indent="0" algn="ctr">
              <a:buNone/>
            </a:pPr>
            <a:r>
              <a:rPr lang="en-US" sz="1300" dirty="0">
                <a:solidFill>
                  <a:srgbClr val="C2CBE8"/>
                </a:solidFill>
                <a:latin typeface="Calibri" pitchFamily="34" charset="0"/>
                <a:ea typeface="Calibri" pitchFamily="34" charset="-122"/>
                <a:cs typeface="Calibri" pitchFamily="34" charset="-120"/>
              </a:rPr>
              <a:t>Author: TheOrionGD   |   Target: Multi-Tenant SaaS (Web + PWA)   |   Start: Auth, Workspaces &amp; Core Task Management</a:t>
            </a:r>
            <a:endParaRPr lang="en-US" sz="1300" dirty="0"/>
          </a:p>
        </p:txBody>
      </p:sp>
      <p:sp>
        <p:nvSpPr>
          <p:cNvPr id="8" name="Shape 5"/>
          <p:cNvSpPr/>
          <p:nvPr/>
        </p:nvSpPr>
        <p:spPr>
          <a:xfrm>
            <a:off x="4251960" y="4617720"/>
            <a:ext cx="3657600" cy="0"/>
          </a:xfrm>
          <a:prstGeom prst="line">
            <a:avLst/>
          </a:prstGeom>
          <a:noFill/>
          <a:ln w="12700">
            <a:solidFill>
              <a:srgbClr val="31407A"/>
            </a:solidFill>
            <a:prstDash val="solid"/>
          </a:ln>
        </p:spPr>
      </p:sp>
      <p:sp>
        <p:nvSpPr>
          <p:cNvPr id="9" name="Text 6"/>
          <p:cNvSpPr/>
          <p:nvPr/>
        </p:nvSpPr>
        <p:spPr>
          <a:xfrm>
            <a:off x="1188720" y="4846320"/>
            <a:ext cx="9784080" cy="640080"/>
          </a:xfrm>
          <a:prstGeom prst="rect">
            <a:avLst/>
          </a:prstGeom>
          <a:noFill/>
          <a:ln/>
        </p:spPr>
        <p:txBody>
          <a:bodyPr wrap="square" lIns="0" tIns="0" rIns="0" bIns="0" rtlCol="0" anchor="ctr"/>
          <a:lstStyle/>
          <a:p>
            <a:pPr marL="0" indent="0" algn="ctr">
              <a:buNone/>
            </a:pPr>
            <a:r>
              <a:rPr lang="en-US" sz="1450" i="1" dirty="0">
                <a:solidFill>
                  <a:srgbClr val="9BA8D1"/>
                </a:solidFill>
                <a:latin typeface="Cambria" pitchFamily="34" charset="0"/>
                <a:ea typeface="Cambria" pitchFamily="34" charset="-122"/>
                <a:cs typeface="Cambria" pitchFamily="34" charset="-120"/>
              </a:rPr>
              <a:t>"Cadence helps organizations execute operational work autonomously — moving the product from passive task tracking into active, continuous work orchestration."</a:t>
            </a:r>
            <a:endParaRPr lang="en-US" sz="1450" dirty="0"/>
          </a:p>
        </p:txBody>
      </p:sp>
      <p:pic>
        <p:nvPicPr>
          <p:cNvPr id="10" name="Image 1" descr="./icons/grid_white.png">
            <a:hlinkClick r:id="rId4" action="ppaction://hlinksldjump"/>
          </p:cNvPr>
          <p:cNvPicPr>
            <a:picLocks noChangeAspect="1"/>
          </p:cNvPicPr>
          <p:nvPr/>
        </p:nvPicPr>
        <p:blipFill>
          <a:blip r:embed="rId5"/>
          <a:stretch>
            <a:fillRect/>
          </a:stretch>
        </p:blipFill>
        <p:spPr>
          <a:xfrm>
            <a:off x="548640" y="6355080"/>
            <a:ext cx="201168" cy="201168"/>
          </a:xfrm>
          <a:prstGeom prst="rect">
            <a:avLst/>
          </a:prstGeom>
        </p:spPr>
      </p:pic>
      <p:sp>
        <p:nvSpPr>
          <p:cNvPr id="11" name="Text 7">
            <a:hlinkClick r:id="rId4" action="ppaction://hlinksldjump"/>
          </p:cNvPr>
          <p:cNvSpPr/>
          <p:nvPr/>
        </p:nvSpPr>
        <p:spPr>
          <a:xfrm>
            <a:off x="841248" y="6327648"/>
            <a:ext cx="2743200" cy="365760"/>
          </a:xfrm>
          <a:prstGeom prst="rect">
            <a:avLst/>
          </a:prstGeom>
          <a:noFill/>
          <a:ln/>
        </p:spPr>
        <p:txBody>
          <a:bodyPr wrap="square" lIns="0" tIns="0" rIns="0" bIns="0" rtlCol="0" anchor="ctr"/>
          <a:lstStyle/>
          <a:p>
            <a:pPr marL="0" indent="0">
              <a:buNone/>
            </a:pPr>
            <a:r>
              <a:rPr lang="en-US" sz="1100" b="1" u="sng" dirty="0">
                <a:solidFill>
                  <a:srgbClr val="8493BD"/>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RETURN TO REVIEW BOARD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1818</Words>
  <Application>Microsoft Office PowerPoint</Application>
  <PresentationFormat>Widescreen</PresentationFormat>
  <Paragraphs>284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Cadence — Proposal Review</dc:title>
  <dc:subject>PptxGenJS Presentation</dc:subject>
  <dc:creator>Cadence Team</dc:creator>
  <cp:lastModifiedBy>TheOrion GD</cp:lastModifiedBy>
  <cp:revision>2</cp:revision>
  <dcterms:created xsi:type="dcterms:W3CDTF">2026-06-30T08:56:54Z</dcterms:created>
  <dcterms:modified xsi:type="dcterms:W3CDTF">2026-06-30T08:59:34Z</dcterms:modified>
</cp:coreProperties>
</file>